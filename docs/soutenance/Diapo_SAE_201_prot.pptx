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9E7B8-4950-4EF9-8EC8-4E02996BB5CF}" v="1" dt="2026-06-24T23:00:26.111"/>
    <p1510:client id="{D480FE2D-4C1D-4607-8B03-DF3A93FC024C}" v="1" dt="2026-06-24T23:25:11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oune Abdelwadoud" userId="57187f01-a13d-4941-9b57-428988d6cc1d" providerId="ADAL" clId="{72E9E7B8-4950-4EF9-8EC8-4E02996BB5CF}"/>
    <pc:docChg chg="custSel delSld modSld sldOrd">
      <pc:chgData name="Alloune Abdelwadoud" userId="57187f01-a13d-4941-9b57-428988d6cc1d" providerId="ADAL" clId="{72E9E7B8-4950-4EF9-8EC8-4E02996BB5CF}" dt="2026-06-24T23:01:26.685" v="61" actId="2696"/>
      <pc:docMkLst>
        <pc:docMk/>
      </pc:docMkLst>
      <pc:sldChg chg="delSp modSp mod ord">
        <pc:chgData name="Alloune Abdelwadoud" userId="57187f01-a13d-4941-9b57-428988d6cc1d" providerId="ADAL" clId="{72E9E7B8-4950-4EF9-8EC8-4E02996BB5CF}" dt="2026-06-24T22:58:57.672" v="59" actId="21"/>
        <pc:sldMkLst>
          <pc:docMk/>
          <pc:sldMk cId="238743129" sldId="256"/>
        </pc:sldMkLst>
        <pc:spChg chg="del mod">
          <ac:chgData name="Alloune Abdelwadoud" userId="57187f01-a13d-4941-9b57-428988d6cc1d" providerId="ADAL" clId="{72E9E7B8-4950-4EF9-8EC8-4E02996BB5CF}" dt="2026-06-24T22:58:57.672" v="59" actId="21"/>
          <ac:spMkLst>
            <pc:docMk/>
            <pc:sldMk cId="238743129" sldId="256"/>
            <ac:spMk id="7" creationId="{4BA90495-5E22-4E3C-8543-20C03D07F03C}"/>
          </ac:spMkLst>
        </pc:spChg>
      </pc:sldChg>
      <pc:sldChg chg="delSp modSp mod">
        <pc:chgData name="Alloune Abdelwadoud" userId="57187f01-a13d-4941-9b57-428988d6cc1d" providerId="ADAL" clId="{72E9E7B8-4950-4EF9-8EC8-4E02996BB5CF}" dt="2026-06-24T22:58:51.673" v="56" actId="21"/>
        <pc:sldMkLst>
          <pc:docMk/>
          <pc:sldMk cId="165198507" sldId="257"/>
        </pc:sldMkLst>
        <pc:spChg chg="del mod">
          <ac:chgData name="Alloune Abdelwadoud" userId="57187f01-a13d-4941-9b57-428988d6cc1d" providerId="ADAL" clId="{72E9E7B8-4950-4EF9-8EC8-4E02996BB5CF}" dt="2026-06-24T22:58:51.673" v="56" actId="21"/>
          <ac:spMkLst>
            <pc:docMk/>
            <pc:sldMk cId="165198507" sldId="257"/>
            <ac:spMk id="4" creationId="{7990C2B2-F302-4CD2-A12F-123B925AB989}"/>
          </ac:spMkLst>
        </pc:spChg>
        <pc:spChg chg="mod">
          <ac:chgData name="Alloune Abdelwadoud" userId="57187f01-a13d-4941-9b57-428988d6cc1d" providerId="ADAL" clId="{72E9E7B8-4950-4EF9-8EC8-4E02996BB5CF}" dt="2026-06-24T22:58:36.035" v="54" actId="20577"/>
          <ac:spMkLst>
            <pc:docMk/>
            <pc:sldMk cId="165198507" sldId="257"/>
            <ac:spMk id="5" creationId="{6F98EC1F-8E50-45E5-817A-04662000549E}"/>
          </ac:spMkLst>
        </pc:spChg>
      </pc:sldChg>
      <pc:sldChg chg="modSp">
        <pc:chgData name="Alloune Abdelwadoud" userId="57187f01-a13d-4941-9b57-428988d6cc1d" providerId="ADAL" clId="{72E9E7B8-4950-4EF9-8EC8-4E02996BB5CF}" dt="2026-06-24T23:00:26.111" v="60"/>
        <pc:sldMkLst>
          <pc:docMk/>
          <pc:sldMk cId="988877232" sldId="260"/>
        </pc:sldMkLst>
        <pc:spChg chg="mod">
          <ac:chgData name="Alloune Abdelwadoud" userId="57187f01-a13d-4941-9b57-428988d6cc1d" providerId="ADAL" clId="{72E9E7B8-4950-4EF9-8EC8-4E02996BB5CF}" dt="2026-06-24T23:00:26.111" v="60"/>
          <ac:spMkLst>
            <pc:docMk/>
            <pc:sldMk cId="988877232" sldId="260"/>
            <ac:spMk id="9" creationId="{248D003B-7543-433F-8EB0-FD90F6946EBB}"/>
          </ac:spMkLst>
        </pc:spChg>
      </pc:sldChg>
      <pc:sldChg chg="del">
        <pc:chgData name="Alloune Abdelwadoud" userId="57187f01-a13d-4941-9b57-428988d6cc1d" providerId="ADAL" clId="{72E9E7B8-4950-4EF9-8EC8-4E02996BB5CF}" dt="2026-06-24T23:01:26.685" v="61" actId="2696"/>
        <pc:sldMkLst>
          <pc:docMk/>
          <pc:sldMk cId="160245355" sldId="268"/>
        </pc:sldMkLst>
      </pc:sldChg>
    </pc:docChg>
  </pc:docChgLst>
  <pc:docChgLst>
    <pc:chgData name="Wasel Yassine" userId="0aeccb26-7355-4247-8786-f68e704a5ebe" providerId="ADAL" clId="{340078DD-A21E-4792-AD1A-1F4C46478055}"/>
    <pc:docChg chg="modSld">
      <pc:chgData name="Wasel Yassine" userId="0aeccb26-7355-4247-8786-f68e704a5ebe" providerId="ADAL" clId="{340078DD-A21E-4792-AD1A-1F4C46478055}" dt="2026-06-24T23:25:11.366" v="5"/>
      <pc:docMkLst>
        <pc:docMk/>
      </pc:docMkLst>
      <pc:sldChg chg="modSp mod">
        <pc:chgData name="Wasel Yassine" userId="0aeccb26-7355-4247-8786-f68e704a5ebe" providerId="ADAL" clId="{340078DD-A21E-4792-AD1A-1F4C46478055}" dt="2026-06-24T23:15:02.773" v="4" actId="1076"/>
        <pc:sldMkLst>
          <pc:docMk/>
          <pc:sldMk cId="492505296" sldId="261"/>
        </pc:sldMkLst>
        <pc:spChg chg="mod">
          <ac:chgData name="Wasel Yassine" userId="0aeccb26-7355-4247-8786-f68e704a5ebe" providerId="ADAL" clId="{340078DD-A21E-4792-AD1A-1F4C46478055}" dt="2026-06-24T23:15:02.773" v="4" actId="1076"/>
          <ac:spMkLst>
            <pc:docMk/>
            <pc:sldMk cId="492505296" sldId="261"/>
            <ac:spMk id="7" creationId="{AE055546-BC9E-4D0D-9477-EA038A3BDAE6}"/>
          </ac:spMkLst>
        </pc:spChg>
        <pc:spChg chg="mod">
          <ac:chgData name="Wasel Yassine" userId="0aeccb26-7355-4247-8786-f68e704a5ebe" providerId="ADAL" clId="{340078DD-A21E-4792-AD1A-1F4C46478055}" dt="2026-06-24T23:14:48.654" v="2" actId="1076"/>
          <ac:spMkLst>
            <pc:docMk/>
            <pc:sldMk cId="492505296" sldId="261"/>
            <ac:spMk id="8" creationId="{52DAD7AB-7843-451D-95B1-E22A21A93247}"/>
          </ac:spMkLst>
        </pc:spChg>
        <pc:spChg chg="mod">
          <ac:chgData name="Wasel Yassine" userId="0aeccb26-7355-4247-8786-f68e704a5ebe" providerId="ADAL" clId="{340078DD-A21E-4792-AD1A-1F4C46478055}" dt="2026-06-24T23:14:37.623" v="0" actId="1076"/>
          <ac:spMkLst>
            <pc:docMk/>
            <pc:sldMk cId="492505296" sldId="261"/>
            <ac:spMk id="9" creationId="{B50A3B0D-C716-46AF-A978-0FEB6F93FF49}"/>
          </ac:spMkLst>
        </pc:spChg>
        <pc:spChg chg="mod">
          <ac:chgData name="Wasel Yassine" userId="0aeccb26-7355-4247-8786-f68e704a5ebe" providerId="ADAL" clId="{340078DD-A21E-4792-AD1A-1F4C46478055}" dt="2026-06-24T23:14:57.391" v="3" actId="1076"/>
          <ac:spMkLst>
            <pc:docMk/>
            <pc:sldMk cId="492505296" sldId="261"/>
            <ac:spMk id="16" creationId="{82E3AB56-74E8-4A43-B5E0-8F0F85A759EC}"/>
          </ac:spMkLst>
        </pc:spChg>
        <pc:spChg chg="mod">
          <ac:chgData name="Wasel Yassine" userId="0aeccb26-7355-4247-8786-f68e704a5ebe" providerId="ADAL" clId="{340078DD-A21E-4792-AD1A-1F4C46478055}" dt="2026-06-24T23:14:57.391" v="3" actId="1076"/>
          <ac:spMkLst>
            <pc:docMk/>
            <pc:sldMk cId="492505296" sldId="261"/>
            <ac:spMk id="17" creationId="{A2E53A8C-525C-451A-8828-F94B6598136F}"/>
          </ac:spMkLst>
        </pc:spChg>
        <pc:spChg chg="mod">
          <ac:chgData name="Wasel Yassine" userId="0aeccb26-7355-4247-8786-f68e704a5ebe" providerId="ADAL" clId="{340078DD-A21E-4792-AD1A-1F4C46478055}" dt="2026-06-24T23:14:57.391" v="3" actId="1076"/>
          <ac:spMkLst>
            <pc:docMk/>
            <pc:sldMk cId="492505296" sldId="261"/>
            <ac:spMk id="18" creationId="{8AAF5ED8-6894-4182-B933-0D3D517E2DD7}"/>
          </ac:spMkLst>
        </pc:spChg>
      </pc:sldChg>
      <pc:sldChg chg="modSp">
        <pc:chgData name="Wasel Yassine" userId="0aeccb26-7355-4247-8786-f68e704a5ebe" providerId="ADAL" clId="{340078DD-A21E-4792-AD1A-1F4C46478055}" dt="2026-06-24T23:25:11.366" v="5"/>
        <pc:sldMkLst>
          <pc:docMk/>
          <pc:sldMk cId="991816865" sldId="264"/>
        </pc:sldMkLst>
        <pc:spChg chg="mod">
          <ac:chgData name="Wasel Yassine" userId="0aeccb26-7355-4247-8786-f68e704a5ebe" providerId="ADAL" clId="{340078DD-A21E-4792-AD1A-1F4C46478055}" dt="2026-06-24T23:25:11.366" v="5"/>
          <ac:spMkLst>
            <pc:docMk/>
            <pc:sldMk cId="991816865" sldId="264"/>
            <ac:spMk id="30" creationId="{5610F754-4870-459D-B758-B057D10F092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0B2545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8" name="Rectangle 7">
            <a:extLst>
              <a:ext uri="{FF2B5EF4-FFF2-40B4-BE49-F238E27FC236}">
                <ns2:creationId id="{392CF46E-7641-4318-AA51-3141B76973BE}"/>
              </a:ext>
            </a:extLst>
          </ns0:cNvPr>
          <ns0:cNvSpPr>
            <a:spLocks noGrp="1"/>
          </ns0:cNvSpPr>
          <ns0:nvPr/>
        </ns0:nvSpPr>
        <ns0:spPr>
          <a:xfrm>
            <a:off x="685800" y="1200150"/>
            <a:ext cx="1619250" cy="47625"/>
          </a:xfrm>
          <a:prstGeom prst="rect">
            <a:avLst/>
          </a:prstGeom>
          <a:solidFill>
            <a:srgbClr val="28B6B0"/>
          </a:solidFill>
          <a:ln w="0">
            <a:solidFill>
              <a:srgbClr val="28B6B0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" name="Rectangle 1">
            <a:extLst>
              <a:ext uri="{FF2B5EF4-FFF2-40B4-BE49-F238E27FC236}">
                <ns2:creationId id="{FC55C7A6-B9A7-4258-8686-6A893C2F5F2E}"/>
              </a:ext>
            </a:extLst>
          </ns0:cNvPr>
          <ns0:cNvSpPr>
            <a:spLocks noGrp="1"/>
          </ns0:cNvSpPr>
          <ns0:nvPr/>
        </ns0:nvSpPr>
        <ns0:spPr>
          <a:xfrm>
            <a:off x="685800" y="16002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28B6B0"/>
                </a:solidFill>
              </a:defRPr>
            </a:pPr>
            <a:r>
              <a:rPr sz="1500" b="1">
                <a:solidFill>
                  <a:srgbClr val="28B6B0"/>
                </a:solidFill>
              </a:rPr>
              <a:t>SAE 2.01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6FCD1A3E-ECA1-4F5D-94B9-418DF2DCDC93}"/>
              </a:ext>
            </a:extLst>
          </ns0:cNvPr>
          <ns0:cNvSpPr>
            <a:spLocks noGrp="1"/>
          </ns0:cNvSpPr>
          <ns0:nvPr/>
        </ns0:nvSpPr>
        <ns0:spPr>
          <a:xfrm>
            <a:off x="685800" y="2095500"/>
            <a:ext cx="7239000" cy="1333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Développement d'une</a:t>
            </a:r>
          </a:p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application web Flask</a:t>
            </a:r>
          </a:p>
        </ns0:txBody>
      </ns0:sp>
      <ns0:sp>
        <ns0:nvSpPr>
          <ns0:cNvPr id="4" name="Rectangle 3">
            <a:extLst>
              <a:ext uri="{FF2B5EF4-FFF2-40B4-BE49-F238E27FC236}">
                <ns2:creationId id="{F1099EB0-91A6-4E76-B9CA-FFD0B37546CE}"/>
              </a:ext>
            </a:extLst>
          </ns0:cNvPr>
          <ns0:cNvSpPr>
            <a:spLocks noGrp="1"/>
          </ns0:cNvSpPr>
          <ns0:nvPr/>
        </ns0:nvSpPr>
        <ns0:spPr>
          <a:xfrm>
            <a:off x="685800" y="37147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725" b="0">
                <a:solidFill>
                  <a:srgbClr val="D8E7F0"/>
                </a:solidFill>
              </a:defRPr>
            </a:pPr>
            <a:r>
              <a:rPr sz="1725" b="0">
                <a:solidFill>
                  <a:srgbClr val="D8E7F0"/>
                </a:solidFill>
              </a:rPr>
              <a:t>DataSanté — données de santé interactives et comparables.</a:t>
            </a:r>
          </a:p>
        </ns0:txBody>
      </ns0:sp>
      <ns0:sp>
        <ns0:nvSpPr>
          <ns0:cNvPr id="5" name="Rectangle : coins arrondis 4">
            <a:extLst>
              <a:ext uri="{FF2B5EF4-FFF2-40B4-BE49-F238E27FC236}">
                <ns2:creationId id="{F557599E-23EC-40F6-A8C5-9A8D7C629B6B}"/>
              </a:ext>
            </a:extLst>
          </ns0:cNvPr>
          <ns0:cNvSpPr>
            <a:spLocks noGrp="1"/>
          </ns0:cNvSpPr>
          <ns0:nvPr/>
        </ns0:nvSpPr>
        <ns0:spPr>
          <a:xfrm>
            <a:off x="685800" y="5067300"/>
            <a:ext cx="4762500" cy="742950"/>
          </a:xfrm>
          <a:prstGeom prst="roundRect">
            <a:avLst>
              <a:gd name="adj" fmla="val 15385"/>
            </a:avLst>
          </a:prstGeom>
          <a:solidFill>
            <a:srgbClr val="123A60"/>
          </a:solidFill>
          <a:ln w="9525">
            <a:solidFill>
              <a:srgbClr val="2E5C82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6" name="Rectangle 5">
            <a:extLst>
              <a:ext uri="{FF2B5EF4-FFF2-40B4-BE49-F238E27FC236}">
                <ns2:creationId id="{8C0C342F-95AC-4C2A-BCCA-2A2B57EA9245}"/>
              </a:ext>
            </a:extLst>
          </ns0:cNvPr>
          <ns0:cNvSpPr>
            <a:spLocks noGrp="1"/>
          </ns0:cNvSpPr>
          <ns0:nvPr/>
        </ns0:nvSpPr>
        <ns0:spPr>
          <a:xfrm>
            <a:off x="914400" y="523875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Membres : ALLOUNE Abdelwadoud · APELA AKUNDE Abdou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BERRICHE Djibril · WASEL Yassine</a:t>
            </a:r>
          </a:p>
        </ns0:txBody>
      </ns0:sp>
      <ns0:sp>
        <ns0:nvSpPr>
          <ns0:cNvPr id="9" name="Rounded Rectangle 8"/>
          <ns0:cNvSpPr/>
          <ns0:nvPr/>
        </ns0:nvSpPr>
        <ns0:spPr>
          <a:xfrm>
            <a:off x="685800" y="4160520"/>
            <a:ext cx="960120" cy="310896"/>
          </a:xfrm>
          <a:prstGeom prst="roundRect">
            <a:avLst/>
          </a:prstGeom>
          <a:solidFill>
            <a:srgbClr val="1479B8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Flask</a:t>
            </a:r>
          </a:p>
        </ns0:txBody>
      </ns0:sp>
      <ns0:sp>
        <ns0:nvSpPr>
          <ns0:cNvPr id="10" name="Rounded Rectangle 9"/>
          <ns0:cNvSpPr/>
          <ns0:nvPr/>
        </ns0:nvSpPr>
        <ns0:spPr>
          <a:xfrm>
            <a:off x="1783080" y="4160520"/>
            <a:ext cx="1417320" cy="310896"/>
          </a:xfrm>
          <a:prstGeom prst="round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SQLAlchemy</a:t>
            </a:r>
          </a:p>
        </ns0:txBody>
      </ns0:sp>
      <ns0:sp>
        <ns0:nvSpPr>
          <ns0:cNvPr id="11" name="Rounded Rectangle 10"/>
          <ns0:cNvSpPr/>
          <ns0:nvPr/>
        </ns0:nvSpPr>
        <ns0:spPr>
          <a:xfrm>
            <a:off x="3337560" y="4160520"/>
            <a:ext cx="1325880" cy="310896"/>
          </a:xfrm>
          <a:prstGeom prst="roundRect">
            <a:avLst/>
          </a:prstGeom>
          <a:solidFill>
            <a:srgbClr val="1479B8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Data Ameli</a:t>
            </a:r>
          </a:p>
        </ns0:txBody>
      </ns0:sp>
      <ns0:sp>
        <ns0:nvSpPr>
          <ns0:cNvPr id="12" name="Rounded Rectangle 11"/>
          <ns0:cNvSpPr/>
          <ns0:nvPr/>
        </ns0:nvSpPr>
        <ns0:spPr>
          <a:xfrm>
            <a:off x="4800600" y="4160520"/>
            <a:ext cx="1783080" cy="310896"/>
          </a:xfrm>
          <a:prstGeom prst="round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Chart.js + Leaflet</a:t>
            </a:r>
          </a:p>
        </ns0:txBody>
      </ns0:sp>
    </ns0:spTree>
    <ns0:extLst>
      <ns0:ext uri="{BB962C8B-B14F-4D97-AF65-F5344CB8AC3E}">
        <ns3:creationId val="238743129"/>
      </ns0:ext>
    </ns0:extLst>
  </ns0:cSld>
  <ns0:clrMapOvr>
    <a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7D6928C-0CFF-4AFA-B619-08BE60B3D2D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C32F0-2FD5-4C9F-8DC3-E3529DEEE549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434C2A-823A-4AE8-A924-DEC49DB10C29}"/>
              </a:ext>
            </a:extLst>
          </p:cNvPr>
          <p:cNvSpPr>
            <a:spLocks noGrp="1"/>
          </p:cNvSpPr>
          <p:nvPr/>
        </p:nvSpPr>
        <p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98EC1F-8E50-45E5-817A-04662000549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lang="fr-FR" sz="2850" b="1" dirty="0">
                <a:solidFill>
                  <a:srgbClr val="0B2545"/>
                </a:solidFill>
              </a:rPr>
              <a:t>SOMMAIRE</a:t>
            </a:r>
            <a:endParaRPr sz="2850" b="1" dirty="0">
              <a:solidFill>
                <a:srgbClr val="0B2545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80F5FF7-80B5-4443-B3AE-302BFB2ED4F3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4953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C7755-29C3-4CCB-86D8-35634108FAB8}"/>
              </a:ext>
            </a:extLst>
          </p:cNvPr>
          <p:cNvSpPr>
            <a:spLocks noGrp="1"/>
          </p:cNvSpPr>
          <p:nvPr/>
        </p:nvSpPr>
        <p:spPr>
          <a:xfrm>
            <a:off x="895350" y="253365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8B6B0"/>
                </a:solidFill>
              </a:defRPr>
            </a:pPr>
            <a:r>
              <a:rPr sz="2100" b="1">
                <a:solidFill>
                  <a:srgbClr val="28B6B0"/>
                </a:solidFill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D38C8F-5CD1-4287-8C46-4CE2A37B5C2D}"/>
              </a:ext>
            </a:extLst>
          </p:cNvPr>
          <p:cNvSpPr>
            <a:spLocks noGrp="1"/>
          </p:cNvSpPr>
          <p:nvPr/>
        </p:nvSpPr>
        <p:spPr>
          <a:xfrm>
            <a:off x="1619250" y="2590800"/>
            <a:ext cx="369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Contexte &amp; besoin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5A6961F-9613-4E9A-A6B3-60BAEF81D772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4953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34C8A-E8AB-4090-883E-FB397751F9D6}"/>
              </a:ext>
            </a:extLst>
          </p:cNvPr>
          <p:cNvSpPr>
            <a:spLocks noGrp="1"/>
          </p:cNvSpPr>
          <p:nvPr/>
        </p:nvSpPr>
        <p:spPr>
          <a:xfrm>
            <a:off x="6286500" y="253365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8B6B0"/>
                </a:solidFill>
              </a:defRPr>
            </a:pPr>
            <a:r>
              <a:rPr sz="2100" b="1">
                <a:solidFill>
                  <a:srgbClr val="28B6B0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773112-3B54-4525-9C0A-5C84654A5FE0}"/>
              </a:ext>
            </a:extLst>
          </p:cNvPr>
          <p:cNvSpPr>
            <a:spLocks noGrp="1"/>
          </p:cNvSpPr>
          <p:nvPr/>
        </p:nvSpPr>
        <p:spPr>
          <a:xfrm>
            <a:off x="7010400" y="2590800"/>
            <a:ext cx="369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Données &amp; architecture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2465B9C-5513-4E83-8B8D-EA1A0F3B86DF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953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B1C307-4BB3-4683-B9C0-9771AF5B3F17}"/>
              </a:ext>
            </a:extLst>
          </p:cNvPr>
          <p:cNvSpPr>
            <a:spLocks noGrp="1"/>
          </p:cNvSpPr>
          <p:nvPr/>
        </p:nvSpPr>
        <p:spPr>
          <a:xfrm>
            <a:off x="895350" y="39624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8B6B0"/>
                </a:solidFill>
              </a:defRPr>
            </a:pPr>
            <a:r>
              <a:rPr sz="2100" b="1">
                <a:solidFill>
                  <a:srgbClr val="28B6B0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48C09-9BC1-45CC-A329-D5806DD065CF}"/>
              </a:ext>
            </a:extLst>
          </p:cNvPr>
          <p:cNvSpPr>
            <a:spLocks noGrp="1"/>
          </p:cNvSpPr>
          <p:nvPr/>
        </p:nvSpPr>
        <p:spPr>
          <a:xfrm>
            <a:off x="1619250" y="4019550"/>
            <a:ext cx="369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Technologies &amp; fonctionnalités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C29C1B1-E090-4A86-AE8C-1B4154732ABF}"/>
              </a:ext>
            </a:extLst>
          </p:cNvPr>
          <p:cNvSpPr>
            <a:spLocks noGrp="1"/>
          </p:cNvSpPr>
          <p:nvPr/>
        </p:nvSpPr>
        <p:spPr>
          <a:xfrm>
            <a:off x="6076950" y="3733800"/>
            <a:ext cx="4953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134920-294C-4A4B-9932-A0A795E98D7A}"/>
              </a:ext>
            </a:extLst>
          </p:cNvPr>
          <p:cNvSpPr>
            <a:spLocks noGrp="1"/>
          </p:cNvSpPr>
          <p:nvPr/>
        </p:nvSpPr>
        <p:spPr>
          <a:xfrm>
            <a:off x="6286500" y="39624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8B6B0"/>
                </a:solidFill>
              </a:defRPr>
            </a:pPr>
            <a:r>
              <a:rPr sz="2100" b="1">
                <a:solidFill>
                  <a:srgbClr val="28B6B0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C635A2-D78F-4404-923C-77C607873CFD}"/>
              </a:ext>
            </a:extLst>
          </p:cNvPr>
          <p:cNvSpPr>
            <a:spLocks noGrp="1"/>
          </p:cNvSpPr>
          <p:nvPr/>
        </p:nvSpPr>
        <p:spPr>
          <a:xfrm>
            <a:off x="7010400" y="4019550"/>
            <a:ext cx="369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Organisation, bilan &amp; démonstration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519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0577825-98A2-470A-9D02-EAAFE580715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2B1B7A-1F49-491F-BF90-44A788211988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93992-1394-4403-90AF-C00FA977DD78}"/>
              </a:ext>
            </a:extLst>
          </p:cNvPr>
          <p:cNvSpPr>
            <a:spLocks noGrp="1"/>
          </p:cNvSpPr>
          <p:nvPr/>
        </p:nvSpPr>
        <p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DB425-3476-445D-A8AE-CA14023B169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CONTEXTE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1FB0E-F51A-4FBE-B672-5AB3686236B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Une SAE pour relier données et application web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6F524E8-6130-47EA-BCAF-8F617FE66E3F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857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32C2B53-7084-43E2-9B2F-7133499354CB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857500" cy="514350"/>
          </a:xfrm>
          <a:prstGeom prst="roundRect">
            <a:avLst>
              <a:gd name="adj" fmla="val 22222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1253CA-7A4C-4DCB-827D-995DB633A808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2514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Réutiliser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B05F9-D9FB-4E70-9966-8BD2CF7B47DC}"/>
              </a:ext>
            </a:extLst>
          </p:cNvPr>
          <p:cNvSpPr>
            <a:spLocks noGrp="1"/>
          </p:cNvSpPr>
          <p:nvPr/>
        </p:nvSpPr>
        <p:spPr>
          <a:xfrm>
            <a:off x="895350" y="3181350"/>
            <a:ext cx="24384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La base de données construite en SAE 2.04 devient une ressource exploitable depuis une interface web.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E044AB4-46D0-48DF-95BE-E14529BC9D40}"/>
              </a:ext>
            </a:extLst>
          </p:cNvPr>
          <p:cNvSpPr>
            <a:spLocks noGrp="1"/>
          </p:cNvSpPr>
          <p:nvPr/>
        </p:nvSpPr>
        <p:spPr>
          <a:xfrm>
            <a:off x="4667250" y="2457450"/>
            <a:ext cx="2857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29A75FB-375F-46AC-854D-2F8F096217D7}"/>
              </a:ext>
            </a:extLst>
          </p:cNvPr>
          <p:cNvSpPr>
            <a:spLocks noGrp="1"/>
          </p:cNvSpPr>
          <p:nvPr/>
        </p:nvSpPr>
        <p:spPr>
          <a:xfrm>
            <a:off x="4667250" y="2457450"/>
            <a:ext cx="2857500" cy="514350"/>
          </a:xfrm>
          <a:prstGeom prst="roundRect">
            <a:avLst>
              <a:gd name="adj" fmla="val 22222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BCBA22-6A19-422B-8879-9416090C4AC2}"/>
              </a:ext>
            </a:extLst>
          </p:cNvPr>
          <p:cNvSpPr>
            <a:spLocks noGrp="1"/>
          </p:cNvSpPr>
          <p:nvPr/>
        </p:nvSpPr>
        <p:spPr>
          <a:xfrm>
            <a:off x="4838700" y="2590800"/>
            <a:ext cx="2514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Développer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8EF8AB-DBF4-4FA9-8E9E-6A35FCA3602D}"/>
              </a:ext>
            </a:extLst>
          </p:cNvPr>
          <p:cNvSpPr>
            <a:spLocks noGrp="1"/>
          </p:cNvSpPr>
          <p:nvPr/>
        </p:nvSpPr>
        <p:spPr>
          <a:xfrm>
            <a:off x="4876800" y="3181350"/>
            <a:ext cx="24384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Flask nous permet de créer une application complète : routes, traitement des données et pages web.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8C0A6F4-D6E3-4768-877F-0A9F559916D9}"/>
              </a:ext>
            </a:extLst>
          </p:cNvPr>
          <p:cNvSpPr>
            <a:spLocks noGrp="1"/>
          </p:cNvSpPr>
          <p:nvPr/>
        </p:nvSpPr>
        <p:spPr>
          <a:xfrm>
            <a:off x="8648700" y="2457450"/>
            <a:ext cx="2857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210F460-DD74-4AE8-ABA7-84D99AB1D13E}"/>
              </a:ext>
            </a:extLst>
          </p:cNvPr>
          <p:cNvSpPr>
            <a:spLocks noGrp="1"/>
          </p:cNvSpPr>
          <p:nvPr/>
        </p:nvSpPr>
        <p:spPr>
          <a:xfrm>
            <a:off x="8648700" y="2457450"/>
            <a:ext cx="2857500" cy="514350"/>
          </a:xfrm>
          <a:prstGeom prst="roundRect">
            <a:avLst>
              <a:gd name="adj" fmla="val 22222"/>
            </a:avLst>
          </a:prstGeom>
          <a:solidFill>
            <a:srgbClr val="F2B134"/>
          </a:solidFill>
          <a:ln w="9525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35A86D-3268-4873-BA13-68177D879640}"/>
              </a:ext>
            </a:extLst>
          </p:cNvPr>
          <p:cNvSpPr>
            <a:spLocks noGrp="1"/>
          </p:cNvSpPr>
          <p:nvPr/>
        </p:nvSpPr>
        <p:spPr>
          <a:xfrm>
            <a:off x="8820150" y="2590800"/>
            <a:ext cx="2514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Rendre lisible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DE42D7-412F-41E2-9A7C-D174423E2165}"/>
              </a:ext>
            </a:extLst>
          </p:cNvPr>
          <p:cNvSpPr>
            <a:spLocks noGrp="1"/>
          </p:cNvSpPr>
          <p:nvPr/>
        </p:nvSpPr>
        <p:spPr>
          <a:xfrm>
            <a:off x="8858250" y="3181350"/>
            <a:ext cx="24384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L'utilisateur consulte des statistiques de santé sans manipuler directement SQL ou une API.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63564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9F8B8AE-81B5-48B2-B9FE-D961CA781E2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07FB47-78C3-4778-A80E-5747A5F35CF5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04877-17E2-4344-9DAB-954D2F89F855}"/>
              </a:ext>
            </a:extLst>
          </p:cNvPr>
          <p:cNvSpPr>
            <a:spLocks noGrp="1"/>
          </p:cNvSpPr>
          <p:nvPr/>
        </p:nvSpPr>
        <p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4F6023-2FB7-437C-ADA6-1129DF24F77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BESOIN UTILISATEUR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4982E-4C64-4A24-96D5-9837EE68836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Un parcours de recherche simple et progressif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5B51E2F-A749-47E9-9A72-C4FFA4E195D3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8288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8A5BAF-7064-4EC2-98A3-DF095F845DB5}"/>
              </a:ext>
            </a:extLst>
          </p:cNvPr>
          <p:cNvSpPr>
            <a:spLocks noGrp="1"/>
          </p:cNvSpPr>
          <p:nvPr/>
        </p:nvSpPr>
        <p:spPr>
          <a:xfrm>
            <a:off x="857250" y="29241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2D3E09-1FF6-48DA-84F0-632CA8985828}"/>
              </a:ext>
            </a:extLst>
          </p:cNvPr>
          <p:cNvSpPr>
            <a:spLocks noGrp="1"/>
          </p:cNvSpPr>
          <p:nvPr/>
        </p:nvSpPr>
        <p:spPr>
          <a:xfrm>
            <a:off x="857250" y="33623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Choisir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A76021-42D5-4D70-BD6A-5562FE34910F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1476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une profession de santé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EB68D-25C5-495B-A71C-EA0C5404325C}"/>
              </a:ext>
            </a:extLst>
          </p:cNvPr>
          <p:cNvSpPr>
            <a:spLocks noGrp="1"/>
          </p:cNvSpPr>
          <p:nvPr/>
        </p:nvSpPr>
        <p:spPr>
          <a:xfrm>
            <a:off x="2495550" y="34004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0A73AD7-4EF0-4CBE-8A0D-D8E66D059694}"/>
              </a:ext>
            </a:extLst>
          </p:cNvPr>
          <p:cNvSpPr>
            <a:spLocks noGrp="1"/>
          </p:cNvSpPr>
          <p:nvPr/>
        </p:nvSpPr>
        <p:spPr>
          <a:xfrm>
            <a:off x="2838450" y="2743200"/>
            <a:ext cx="18288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0088DA-2463-4928-8381-5B81E38D5546}"/>
              </a:ext>
            </a:extLst>
          </p:cNvPr>
          <p:cNvSpPr>
            <a:spLocks noGrp="1"/>
          </p:cNvSpPr>
          <p:nvPr/>
        </p:nvSpPr>
        <p:spPr>
          <a:xfrm>
            <a:off x="3009900" y="29241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3FE46-D056-4465-AC22-F8AA48FF7190}"/>
              </a:ext>
            </a:extLst>
          </p:cNvPr>
          <p:cNvSpPr>
            <a:spLocks noGrp="1"/>
          </p:cNvSpPr>
          <p:nvPr/>
        </p:nvSpPr>
        <p:spPr>
          <a:xfrm>
            <a:off x="3009900" y="33623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Sélectionner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5C187-7428-48D3-A8EC-105AEE8495A4}"/>
              </a:ext>
            </a:extLst>
          </p:cNvPr>
          <p:cNvSpPr>
            <a:spLocks noGrp="1"/>
          </p:cNvSpPr>
          <p:nvPr/>
        </p:nvSpPr>
        <p:spPr>
          <a:xfrm>
            <a:off x="3009900" y="3733800"/>
            <a:ext cx="1476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une région ou un département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D896E7-29E9-4E80-9B28-AA343AAF6EF3}"/>
              </a:ext>
            </a:extLst>
          </p:cNvPr>
          <p:cNvSpPr>
            <a:spLocks noGrp="1"/>
          </p:cNvSpPr>
          <p:nvPr/>
        </p:nvSpPr>
        <p:spPr>
          <a:xfrm>
            <a:off x="4648200" y="34004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A64535B-7214-4A46-BD21-A9AEB6B78864}"/>
              </a:ext>
            </a:extLst>
          </p:cNvPr>
          <p:cNvSpPr>
            <a:spLocks noGrp="1"/>
          </p:cNvSpPr>
          <p:nvPr/>
        </p:nvSpPr>
        <p:spPr>
          <a:xfrm>
            <a:off x="4991100" y="2743200"/>
            <a:ext cx="18288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63FF9F-9239-4D2B-BC67-10599404331B}"/>
              </a:ext>
            </a:extLst>
          </p:cNvPr>
          <p:cNvSpPr>
            <a:spLocks noGrp="1"/>
          </p:cNvSpPr>
          <p:nvPr/>
        </p:nvSpPr>
        <p:spPr>
          <a:xfrm>
            <a:off x="5162550" y="29241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D27CA-BD8F-4D59-92E9-265EAD0FE120}"/>
              </a:ext>
            </a:extLst>
          </p:cNvPr>
          <p:cNvSpPr>
            <a:spLocks noGrp="1"/>
          </p:cNvSpPr>
          <p:nvPr/>
        </p:nvSpPr>
        <p:spPr>
          <a:xfrm>
            <a:off x="5162550" y="33623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Consulter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ECA296-6DD1-49C6-8799-0227BC9171C0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1476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les statistiques correspondantes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00CDCF-BD97-4688-B26B-39D6223F2D0C}"/>
              </a:ext>
            </a:extLst>
          </p:cNvPr>
          <p:cNvSpPr>
            <a:spLocks noGrp="1"/>
          </p:cNvSpPr>
          <p:nvPr/>
        </p:nvSpPr>
        <p:spPr>
          <a:xfrm>
            <a:off x="6800850" y="34004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45D340B-46C1-40BE-B122-E066B6340895}"/>
              </a:ext>
            </a:extLst>
          </p:cNvPr>
          <p:cNvSpPr>
            <a:spLocks noGrp="1"/>
          </p:cNvSpPr>
          <p:nvPr/>
        </p:nvSpPr>
        <p:spPr>
          <a:xfrm>
            <a:off x="7143750" y="2743200"/>
            <a:ext cx="18288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F7008C-6DC3-4D1F-93A4-A2F83C2F8173}"/>
              </a:ext>
            </a:extLst>
          </p:cNvPr>
          <p:cNvSpPr>
            <a:spLocks noGrp="1"/>
          </p:cNvSpPr>
          <p:nvPr/>
        </p:nvSpPr>
        <p:spPr>
          <a:xfrm>
            <a:off x="7315200" y="29241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4FDF8B-7F9A-42AF-80C9-4C5739F15444}"/>
              </a:ext>
            </a:extLst>
          </p:cNvPr>
          <p:cNvSpPr>
            <a:spLocks noGrp="1"/>
          </p:cNvSpPr>
          <p:nvPr/>
        </p:nvSpPr>
        <p:spPr>
          <a:xfrm>
            <a:off x="7315200" y="33623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Comparer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65ACF8-475C-450B-89A3-4AE975E593E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1476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plusieurs territoires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44C6E3-735E-4C39-9C04-6C45CDEC79D8}"/>
              </a:ext>
            </a:extLst>
          </p:cNvPr>
          <p:cNvSpPr>
            <a:spLocks noGrp="1"/>
          </p:cNvSpPr>
          <p:nvPr/>
        </p:nvSpPr>
        <p:spPr>
          <a:xfrm>
            <a:off x="8953500" y="34004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C3B1686-4DEB-48A2-9ACF-B898A2F288B9}"/>
              </a:ext>
            </a:extLst>
          </p:cNvPr>
          <p:cNvSpPr>
            <a:spLocks noGrp="1"/>
          </p:cNvSpPr>
          <p:nvPr/>
        </p:nvSpPr>
        <p:spPr>
          <a:xfrm>
            <a:off x="9296400" y="2743200"/>
            <a:ext cx="18288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CADB88-8874-47AC-9853-A861A3B41F24}"/>
              </a:ext>
            </a:extLst>
          </p:cNvPr>
          <p:cNvSpPr>
            <a:spLocks noGrp="1"/>
          </p:cNvSpPr>
          <p:nvPr/>
        </p:nvSpPr>
        <p:spPr>
          <a:xfrm>
            <a:off x="9467850" y="29241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2D63A5-8DAD-4333-9144-CEBC2948E372}"/>
              </a:ext>
            </a:extLst>
          </p:cNvPr>
          <p:cNvSpPr>
            <a:spLocks noGrp="1"/>
          </p:cNvSpPr>
          <p:nvPr/>
        </p:nvSpPr>
        <p:spPr>
          <a:xfrm>
            <a:off x="9467850" y="33623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Visualiser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3BB7DA-456B-457B-8DE6-4C8608FCFB24}"/>
              </a:ext>
            </a:extLst>
          </p:cNvPr>
          <p:cNvSpPr>
            <a:spLocks noGrp="1"/>
          </p:cNvSpPr>
          <p:nvPr/>
        </p:nvSpPr>
        <p:spPr>
          <a:xfrm>
            <a:off x="9467850" y="3733800"/>
            <a:ext cx="1476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tableaux et graphiques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A7745C-88D0-4D55-A11D-EBDEDFD88379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Objectif : transformer une demande utilisateur en informations immédiatement interprétables.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40092886"/>
      </p:ext>
    </p:extLst>
  </p:cSld>
  <p:clrMapOvr>
    <a:masterClrMapping/>
  </p:clrMapOvr>
</p:sld>
</file>

<file path=ppt/slides/slide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7FAFC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3" name="Rectangle 22">
            <a:extLst>
              <a:ext uri="{FF2B5EF4-FFF2-40B4-BE49-F238E27FC236}">
                <ns2:creationId id="{26EFDDF5-9DEC-4129-B4AD-F3BCC98B90FF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ns0:txBody>
      </ns0:sp>
      <ns0:sp>
        <ns0:nvSpPr>
          <ns0:cNvPr id="2" name="Rectangle 1">
            <a:extLst>
              <a:ext uri="{FF2B5EF4-FFF2-40B4-BE49-F238E27FC236}">
                <ns2:creationId id="{DCFDF857-5A88-4045-948B-196B5F9C0636}"/>
              </a:ext>
            </a:extLst>
          </ns0:cNvPr>
          <ns0:cNvSpPr>
            <a:spLocks noGrp="1"/>
          </ns0:cNvSpPr>
          <ns0:nvPr/>
        </ns0:nvSpPr>
        <ns0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05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05F51396-296F-4092-8AAD-937A34CACC20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4" name="Rectangle 3">
            <a:extLst>
              <a:ext uri="{FF2B5EF4-FFF2-40B4-BE49-F238E27FC236}">
                <ns2:creationId id="{C39C2D0B-E7B3-4A97-9789-723902458DC2}"/>
              </a:ext>
            </a:extLst>
          </ns0:cNvPr>
          <ns0:cNvSpPr>
            <a:spLocks noGrp="1"/>
          </ns0:cNvSpPr>
          <ns0:nvPr/>
        </ns0:nvSpPr>
        <ns0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GESTION DES DONNÉES</a:t>
            </a:r>
          </a:p>
        </ns0:txBody>
      </ns0:sp>
      <ns0:sp>
        <ns0:nvSpPr>
          <ns0:cNvPr id="5" name="Rectangle 4">
            <a:extLst>
              <a:ext uri="{FF2B5EF4-FFF2-40B4-BE49-F238E27FC236}">
                <ns2:creationId id="{54E876A3-92AF-4B29-8AD6-37BB20882B7E}"/>
              </a:ext>
            </a:extLst>
          </ns0:cNvPr>
          <ns0:cNvSpPr>
            <a:spLocks noGrp="1"/>
          </ns0:cNvSpPr>
          <ns0:nvPr/>
        </ns0:nvSpPr>
        <ns0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Deux sources complémentaires, deux rôles distincts</a:t>
            </a:r>
          </a:p>
        </ns0:txBody>
      </ns0:sp>
      <ns0:sp>
        <ns0:nvSpPr>
          <ns0:cNvPr id="6" name="Rectangle : coins arrondis 5">
            <a:extLst>
              <a:ext uri="{FF2B5EF4-FFF2-40B4-BE49-F238E27FC236}">
                <ns2:creationId id="{7504A326-FAAC-4CEE-9E13-CFABB92C84E0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4838700" cy="272415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7" name="Rectangle : coins arrondis 6">
            <a:extLst>
              <a:ext uri="{FF2B5EF4-FFF2-40B4-BE49-F238E27FC236}">
                <ns2:creationId id="{467E7184-1D92-44EC-8D6D-9074F943FE5B}"/>
              </a:ext>
            </a:extLst>
          </ns0:cNvPr>
          <ns0:cNvSpPr>
            <a:spLocks noGrp="1"/>
          </ns0:cNvSpPr>
          <ns0:nvPr/>
        </ns0:nvSpPr>
        <ns0:spPr>
          <a:xfrm>
            <a:off x="914400" y="2590800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8" name="Rectangle 7">
            <a:extLst>
              <a:ext uri="{FF2B5EF4-FFF2-40B4-BE49-F238E27FC236}">
                <ns2:creationId id="{9CBAF18A-6BB2-414B-98DA-711275012AC3}"/>
              </a:ext>
            </a:extLst>
          </ns0:cNvPr>
          <ns0:cNvSpPr>
            <a:spLocks noGrp="1"/>
          </ns0:cNvSpPr>
          <ns0:nvPr/>
        </ns0:nvSpPr>
        <ns0:spPr>
          <a:xfrm>
            <a:off x="990600" y="2657475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DONNÉES STATIQUES</a:t>
            </a:r>
          </a:p>
        </ns0:txBody>
      </ns0:sp>
      <ns0:sp>
        <ns0:nvSpPr>
          <ns0:cNvPr id="9" name="Rectangle 8">
            <a:extLst>
              <a:ext uri="{FF2B5EF4-FFF2-40B4-BE49-F238E27FC236}">
                <ns2:creationId id="{248D003B-7543-433F-8EB0-FD90F6946EBB}"/>
              </a:ext>
            </a:extLst>
          </ns0:cNvPr>
          <ns0:cNvSpPr>
            <a:spLocks noGrp="1"/>
          </ns0:cNvSpPr>
          <ns0:nvPr/>
        </ns0:nvSpPr>
        <ns0:spPr>
          <a:xfrm>
            <a:off x="914400" y="3143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 dirty="0">
                <a:solidFill>
                  <a:srgbClr val="0B2545"/>
                </a:solidFill>
              </a:rPr>
              <a:t>Base MySQL </a:t>
            </a:r>
            <a:r>
              <a:rPr lang="fr-FR" sz="1800" b="1" dirty="0">
                <a:solidFill>
                  <a:srgbClr val="0B2545"/>
                </a:solidFill>
              </a:rPr>
              <a:t>-</a:t>
            </a:r>
            <a:r>
              <a:rPr sz="1800" b="1" dirty="0">
                <a:solidFill>
                  <a:srgbClr val="0B2545"/>
                </a:solidFill>
              </a:rPr>
              <a:t> SAE 2.04</a:t>
            </a:r>
          </a:p>
        </ns0:txBody>
      </ns0:sp>
      <ns0:sp>
        <ns0:nvSpPr>
          <ns0:cNvPr id="10" name="Rectangle : coins arrondis 9">
            <a:extLst>
              <a:ext uri="{FF2B5EF4-FFF2-40B4-BE49-F238E27FC236}">
                <ns2:creationId id="{71C8E312-9B4F-47E8-858F-EDD48B8ECDAA}"/>
              </a:ext>
            </a:extLst>
          </ns0:cNvPr>
          <ns0:cNvSpPr>
            <a:spLocks noGrp="1"/>
          </ns0:cNvSpPr>
          <ns0:nvPr/>
        </ns0:nvSpPr>
        <ns0:spPr>
          <a:xfrm>
            <a:off x="914400" y="3724275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1" name="Rectangle 10">
            <a:extLst>
              <a:ext uri="{FF2B5EF4-FFF2-40B4-BE49-F238E27FC236}">
                <ns2:creationId id="{429054F3-9C1B-44EB-B82A-FA2830A946DC}"/>
              </a:ext>
            </a:extLst>
          </ns0:cNvPr>
          <ns0:cNvSpPr>
            <a:spLocks noGrp="1"/>
          </ns0:cNvSpPr>
          <ns0:nvPr/>
        </ns0:nvSpPr>
        <ns0:spPr>
          <a:xfrm>
            <a:off x="1181100" y="3638550"/>
            <a:ext cx="3409950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Régions et départements</a:t>
            </a:r>
          </a:p>
        </ns0:txBody>
      </ns0:sp>
      <ns0:sp>
        <ns0:nvSpPr>
          <ns0:cNvPr id="12" name="Rectangle : coins arrondis 11">
            <a:extLst>
              <a:ext uri="{FF2B5EF4-FFF2-40B4-BE49-F238E27FC236}">
                <ns2:creationId id="{50B7AC87-FC7A-4476-9319-6FCFEBB76E37}"/>
              </a:ext>
            </a:extLst>
          </ns0:cNvPr>
          <ns0:cNvSpPr>
            <a:spLocks noGrp="1"/>
          </ns0:cNvSpPr>
          <ns0:nvPr/>
        </ns0:nvSpPr>
        <ns0:spPr>
          <a:xfrm>
            <a:off x="914400" y="4200525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3" name="Rectangle 12">
            <a:extLst>
              <a:ext uri="{FF2B5EF4-FFF2-40B4-BE49-F238E27FC236}">
                <ns2:creationId id="{FFF6B862-F3D2-4B6A-B420-BEB4C00CBA27}"/>
              </a:ext>
            </a:extLst>
          </ns0:cNvPr>
          <ns0:cNvSpPr>
            <a:spLocks noGrp="1"/>
          </ns0:cNvSpPr>
          <ns0:nvPr/>
        </ns0:nvSpPr>
        <ns0:spPr>
          <a:xfrm>
            <a:off x="1181100" y="4114800"/>
            <a:ext cx="3409950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Professions et dimensions</a:t>
            </a:r>
          </a:p>
        </ns0:txBody>
      </ns0:sp>
      <ns0:sp>
        <ns0:nvSpPr>
          <ns0:cNvPr id="14" name="Rectangle : coins arrondis 13">
            <a:extLst>
              <a:ext uri="{FF2B5EF4-FFF2-40B4-BE49-F238E27FC236}">
                <ns2:creationId id="{362FED42-68E8-497E-A1A4-0E03F6542C22}"/>
              </a:ext>
            </a:extLst>
          </ns0:cNvPr>
          <ns0:cNvSpPr>
            <a:spLocks noGrp="1"/>
          </ns0:cNvSpPr>
          <ns0:nvPr/>
        </ns0:nvSpPr>
        <ns0:spPr>
          <a:xfrm>
            <a:off x="6667500" y="2362200"/>
            <a:ext cx="4838700" cy="272415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5" name="Rectangle : coins arrondis 14">
            <a:extLst>
              <a:ext uri="{FF2B5EF4-FFF2-40B4-BE49-F238E27FC236}">
                <ns2:creationId id="{FC77E0E1-2E27-4DA6-86C2-97133643E05F}"/>
              </a:ext>
            </a:extLst>
          </ns0:cNvPr>
          <ns0:cNvSpPr>
            <a:spLocks noGrp="1"/>
          </ns0:cNvSpPr>
          <ns0:nvPr/>
        </ns0:nvSpPr>
        <ns0:spPr>
          <a:xfrm>
            <a:off x="6896100" y="25908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6" name="Rectangle 15">
            <a:extLst>
              <a:ext uri="{FF2B5EF4-FFF2-40B4-BE49-F238E27FC236}">
                <ns2:creationId id="{EE1090AA-BF07-43C5-A9B8-8C63E0852E09}"/>
              </a:ext>
            </a:extLst>
          </ns0:cNvPr>
          <ns0:cNvSpPr>
            <a:spLocks noGrp="1"/>
          </ns0:cNvSpPr>
          <ns0:nvPr/>
        </ns0:nvSpPr>
        <ns0:spPr>
          <a:xfrm>
            <a:off x="6972300" y="2657475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DONNÉES DYNAMIQUES</a:t>
            </a:r>
          </a:p>
        </ns0:txBody>
      </ns0:sp>
      <ns0:sp>
        <ns0:nvSpPr>
          <ns0:cNvPr id="17" name="Rectangle 16">
            <a:extLst>
              <a:ext uri="{FF2B5EF4-FFF2-40B4-BE49-F238E27FC236}">
                <ns2:creationId id="{1468117B-F24D-4277-8B56-C14A1DF2A161}"/>
              </a:ext>
            </a:extLst>
          </ns0:cNvPr>
          <ns0:cNvSpPr>
            <a:spLocks noGrp="1"/>
          </ns0:cNvSpPr>
          <ns0:nvPr/>
        </ns0:nvSpPr>
        <ns0:spPr>
          <a:xfrm>
            <a:off x="6896100" y="3143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Data Ameli</a:t>
            </a:r>
          </a:p>
        </ns0:txBody>
      </ns0:sp>
      <ns0:sp>
        <ns0:nvSpPr>
          <ns0:cNvPr id="18" name="Rectangle : coins arrondis 17">
            <a:extLst>
              <a:ext uri="{FF2B5EF4-FFF2-40B4-BE49-F238E27FC236}">
                <ns2:creationId id="{20CC074E-4A85-4281-A587-5B3A90747095}"/>
              </a:ext>
            </a:extLst>
          </ns0:cNvPr>
          <ns0:cNvSpPr>
            <a:spLocks noGrp="1"/>
          </ns0:cNvSpPr>
          <ns0:nvPr/>
        </ns0:nvSpPr>
        <ns0:spPr>
          <a:xfrm>
            <a:off x="6896100" y="3724275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9" name="Rectangle 18">
            <a:extLst>
              <a:ext uri="{FF2B5EF4-FFF2-40B4-BE49-F238E27FC236}">
                <ns2:creationId id="{406B7A10-A99A-46A5-AAD4-858BE9DA89C3}"/>
              </a:ext>
            </a:extLst>
          </ns0:cNvPr>
          <ns0:cNvSpPr>
            <a:spLocks noGrp="1"/>
          </ns0:cNvSpPr>
          <ns0:nvPr/>
        </ns0:nvSpPr>
        <ns0:spPr>
          <a:xfrm>
            <a:off x="7162800" y="3638550"/>
            <a:ext cx="3409950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Effectifs et densités</a:t>
            </a:r>
          </a:p>
        </ns0:txBody>
      </ns0:sp>
      <ns0:sp>
        <ns0:nvSpPr>
          <ns0:cNvPr id="20" name="Rectangle : coins arrondis 19">
            <a:extLst>
              <a:ext uri="{FF2B5EF4-FFF2-40B4-BE49-F238E27FC236}">
                <ns2:creationId id="{4A35B90D-AB45-4D3B-A971-A0F1E312829D}"/>
              </a:ext>
            </a:extLst>
          </ns0:cNvPr>
          <ns0:cNvSpPr>
            <a:spLocks noGrp="1"/>
          </ns0:cNvSpPr>
          <ns0:nvPr/>
        </ns0:nvSpPr>
        <ns0:spPr>
          <a:xfrm>
            <a:off x="6896100" y="4200525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1" name="Rectangle 20">
            <a:extLst>
              <a:ext uri="{FF2B5EF4-FFF2-40B4-BE49-F238E27FC236}">
                <ns2:creationId id="{48C385D1-90B2-4931-A1D8-520BB1674CCB}"/>
              </a:ext>
            </a:extLst>
          </ns0:cNvPr>
          <ns0:cNvSpPr>
            <a:spLocks noGrp="1"/>
          </ns0:cNvSpPr>
          <ns0:nvPr/>
        </ns0:nvSpPr>
        <ns0:spPr>
          <a:xfrm>
            <a:off x="7162800" y="4114800"/>
            <a:ext cx="3409950" cy="475488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Honoraires, prescriptions et pathologies</a:t>
            </a:r>
          </a:p>
        </ns0:txBody>
      </ns0:sp>
      <ns0:sp>
        <ns0:nvSpPr>
          <ns0:cNvPr id="22" name="Rectangle 21">
            <a:extLst>
              <a:ext uri="{FF2B5EF4-FFF2-40B4-BE49-F238E27FC236}">
                <ns2:creationId id="{3D58CC98-EED7-4371-9DFE-3B46905BB26D}"/>
              </a:ext>
            </a:extLst>
          </ns0:cNvPr>
          <ns0:cNvSpPr>
            <a:spLocks noGrp="1"/>
          </ns0:cNvSpPr>
          <ns0:nvPr/>
        </ns0:nvSpPr>
        <ns0:spPr>
          <a:xfrm>
            <a:off x="685800" y="55626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Flask associe les référentiels locaux aux indicateurs récupérés au moment de la recherche.</a:t>
            </a:r>
          </a:p>
        </ns0:txBody>
      </ns0:sp>
      <ns0:sp>
        <ns0:nvSpPr>
          <ns0:cNvPr id="24" name="Rectangle 23"/>
          <ns0:cNvSpPr/>
          <ns0:nvPr/>
        </ns0:nvSpPr>
        <ns0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</ns0:spTree>
    <ns0:extLst>
      <ns0:ext uri="{BB962C8B-B14F-4D97-AF65-F5344CB8AC3E}">
        <ns3:creationId val="988877232"/>
      </ns0:ext>
    </ns0:extLst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7FAFC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3" name="Rectangle 22">
            <a:extLst>
              <a:ext uri="{FF2B5EF4-FFF2-40B4-BE49-F238E27FC236}">
                <ns2:creationId id="{D9951A32-D2B3-49E0-8718-557358FE29B9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ns0:txBody>
      </ns0:sp>
      <ns0:sp>
        <ns0:nvSpPr>
          <ns0:cNvPr id="2" name="Rectangle 1">
            <a:extLst>
              <a:ext uri="{FF2B5EF4-FFF2-40B4-BE49-F238E27FC236}">
                <ns2:creationId id="{534050A8-C0FA-473B-8C11-702CCD7276BF}"/>
              </a:ext>
            </a:extLst>
          </ns0:cNvPr>
          <ns0:cNvSpPr>
            <a:spLocks noGrp="1"/>
          </ns0:cNvSpPr>
          <ns0:nvPr/>
        </ns0:nvSpPr>
        <ns0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06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9244A4FE-CB4D-4A5A-8F0B-695FBD10C0DE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4" name="Rectangle 3">
            <a:extLst>
              <a:ext uri="{FF2B5EF4-FFF2-40B4-BE49-F238E27FC236}">
                <ns2:creationId id="{CF313D9E-22AE-457D-B2C6-058F9A8B826E}"/>
              </a:ext>
            </a:extLst>
          </ns0:cNvPr>
          <ns0:cNvSpPr>
            <a:spLocks noGrp="1"/>
          </ns0:cNvSpPr>
          <ns0:nvPr/>
        </ns0:nvSpPr>
        <ns0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ARCHITECTURE GÉNÉRALE</a:t>
            </a:r>
          </a:p>
        </ns0:txBody>
      </ns0:sp>
      <ns0:sp>
        <ns0:nvSpPr>
          <ns0:cNvPr id="5" name="Rectangle 4">
            <a:extLst>
              <a:ext uri="{FF2B5EF4-FFF2-40B4-BE49-F238E27FC236}">
                <ns2:creationId id="{D5C8FD7C-0FD2-426B-BBA9-61A31C3BD77A}"/>
              </a:ext>
            </a:extLst>
          </ns0:cNvPr>
          <ns0:cNvSpPr>
            <a:spLocks noGrp="1"/>
          </ns0:cNvSpPr>
          <ns0:nvPr/>
        </ns0:nvSpPr>
        <ns0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Flask centralise tous les échanges</a:t>
            </a:r>
          </a:p>
        </ns0:txBody>
      </ns0:sp>
      <ns0:sp>
        <ns0:nvSpPr>
          <ns0:cNvPr id="6" name="Rectangle 5">
            <a:extLst>
              <a:ext uri="{FF2B5EF4-FFF2-40B4-BE49-F238E27FC236}">
                <ns2:creationId id="{C76D3A83-A09D-4EB3-9DF7-13BB56757192}"/>
              </a:ext>
            </a:extLst>
          </ns0:cNvPr>
          <ns0:cNvSpPr>
            <a:spLocks noGrp="1"/>
          </ns0:cNvSpPr>
          <ns0:nvPr/>
        </ns0:nvSpPr>
        <ns0:spPr>
          <a:xfrm>
            <a:off x="2762250" y="31908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ns0:txBody>
      </ns0:sp>
      <ns0:sp>
        <ns0:nvSpPr>
          <ns0:cNvPr id="7" name="Rectangle 6">
            <a:extLst>
              <a:ext uri="{FF2B5EF4-FFF2-40B4-BE49-F238E27FC236}">
                <ns2:creationId id="{AE055546-BC9E-4D0D-9477-EA038A3BDAE6}"/>
              </a:ext>
            </a:extLst>
          </ns0:cNvPr>
          <ns0:cNvSpPr>
            <a:spLocks noGrp="1"/>
          </ns0:cNvSpPr>
          <ns0:nvPr/>
        </ns0:nvSpPr>
        <ns0:spPr>
          <a:xfrm>
            <a:off x="5905500" y="31146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 dirty="0">
                <a:solidFill>
                  <a:srgbClr val="1479B8"/>
                </a:solidFill>
              </a:rPr>
              <a:t>→</a:t>
            </a:r>
          </a:p>
        </ns0:txBody>
      </ns0:sp>
      <ns0:sp>
        <ns0:nvSpPr>
          <ns0:cNvPr id="8" name="Rectangle 7">
            <a:extLst>
              <a:ext uri="{FF2B5EF4-FFF2-40B4-BE49-F238E27FC236}">
                <ns2:creationId id="{52DAD7AB-7843-451D-95B1-E22A21A93247}"/>
              </a:ext>
            </a:extLst>
          </ns0:cNvPr>
          <ns0:cNvSpPr>
            <a:spLocks noGrp="1"/>
          </ns0:cNvSpPr>
          <ns0:nvPr/>
        </ns0:nvSpPr>
        <ns0:spPr>
          <a:xfrm>
            <a:off x="5905500" y="3881437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 dirty="0">
                <a:solidFill>
                  <a:srgbClr val="1479B8"/>
                </a:solidFill>
              </a:rPr>
              <a:t>→</a:t>
            </a:r>
          </a:p>
        </ns0:txBody>
      </ns0:sp>
      <ns0:sp>
        <ns0:nvSpPr>
          <ns0:cNvPr id="9" name="Rectangle 8">
            <a:extLst>
              <a:ext uri="{FF2B5EF4-FFF2-40B4-BE49-F238E27FC236}">
                <ns2:creationId id="{B50A3B0D-C716-46AF-A978-0FEB6F93FF49}"/>
              </a:ext>
            </a:extLst>
          </ns0:cNvPr>
          <ns0:cNvSpPr>
            <a:spLocks noGrp="1"/>
          </ns0:cNvSpPr>
          <ns0:nvPr/>
        </ns0:nvSpPr>
        <ns0:spPr>
          <a:xfrm>
            <a:off x="2762250" y="3733419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 dirty="0">
                <a:solidFill>
                  <a:srgbClr val="1479B8"/>
                </a:solidFill>
              </a:rPr>
              <a:t>←</a:t>
            </a:r>
          </a:p>
        </ns0:txBody>
      </ns0:sp>
      <ns0:sp>
        <ns0:nvSpPr>
          <ns0:cNvPr id="10" name="Rectangle : coins arrondis 9">
            <a:extLst>
              <a:ext uri="{FF2B5EF4-FFF2-40B4-BE49-F238E27FC236}">
                <ns2:creationId id="{730BF465-B323-43CD-B975-B76E141248BC}"/>
              </a:ext>
            </a:extLst>
          </ns0:cNvPr>
          <ns0:cNvSpPr>
            <a:spLocks noGrp="1"/>
          </ns0:cNvSpPr>
          <ns0:nvPr/>
        </ns0:nvSpPr>
        <ns0:spPr>
          <a:xfrm>
            <a:off x="685800" y="3143250"/>
            <a:ext cx="2000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1" name="Rectangle 10">
            <a:extLst>
              <a:ext uri="{FF2B5EF4-FFF2-40B4-BE49-F238E27FC236}">
                <ns2:creationId id="{6A80692C-DF50-4DF8-A228-3169AF435CB9}"/>
              </a:ext>
            </a:extLst>
          </ns0:cNvPr>
          <ns0:cNvSpPr>
            <a:spLocks noGrp="1"/>
          </ns0:cNvSpPr>
          <ns0:nvPr/>
        </ns0:nvSpPr>
        <ns0:spPr>
          <a:xfrm>
            <a:off x="876300" y="33813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Utilisateur</a:t>
            </a:r>
          </a:p>
        </ns0:txBody>
      </ns0:sp>
      <ns0:sp>
        <ns0:nvSpPr>
          <ns0:cNvPr id="12" name="Rectangle 11">
            <a:extLst>
              <a:ext uri="{FF2B5EF4-FFF2-40B4-BE49-F238E27FC236}">
                <ns2:creationId id="{3FA9A420-94F2-421E-8C12-4A1BA2FD2F99}"/>
              </a:ext>
            </a:extLst>
          </ns0:cNvPr>
          <ns0:cNvSpPr>
            <a:spLocks noGrp="1"/>
          </ns0:cNvSpPr>
          <ns0:nvPr/>
        </ns0:nvSpPr>
        <ns0:spPr>
          <a:xfrm>
            <a:off x="876300" y="3771900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Navigateur web</a:t>
            </a:r>
          </a:p>
        </ns0:txBody>
      </ns0:sp>
      <ns0:sp>
        <ns0:nvSpPr>
          <ns0:cNvPr id="13" name="Rectangle : coins arrondis 12">
            <a:extLst>
              <a:ext uri="{FF2B5EF4-FFF2-40B4-BE49-F238E27FC236}">
                <ns2:creationId id="{D423C231-489A-4CC9-B53B-A8530AF45BD5}"/>
              </a:ext>
            </a:extLst>
          </ns0:cNvPr>
          <ns0:cNvSpPr>
            <a:spLocks noGrp="1"/>
          </ns0:cNvSpPr>
          <ns0:nvPr/>
        </ns0:nvSpPr>
        <ns0:spPr>
          <a:xfrm>
            <a:off x="3429000" y="3143250"/>
            <a:ext cx="2381250" cy="1123950"/>
          </a:xfrm>
          <a:prstGeom prst="roundRect">
            <a:avLst>
              <a:gd name="adj" fmla="val 10169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4" name="Rectangle 13">
            <a:extLst>
              <a:ext uri="{FF2B5EF4-FFF2-40B4-BE49-F238E27FC236}">
                <ns2:creationId id="{E7B1AA1D-A563-4D26-A80F-937045B70278}"/>
              </a:ext>
            </a:extLst>
          </ns0:cNvPr>
          <ns0:cNvSpPr>
            <a:spLocks noGrp="1"/>
          </ns0:cNvSpPr>
          <ns0:nvPr/>
        </ns0:nvSpPr>
        <ns0:spPr>
          <a:xfrm>
            <a:off x="3619500" y="3371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Flask</a:t>
            </a:r>
          </a:p>
        </ns0:txBody>
      </ns0:sp>
      <ns0:sp>
        <ns0:nvSpPr>
          <ns0:cNvPr id="15" name="Rectangle 14">
            <a:extLst>
              <a:ext uri="{FF2B5EF4-FFF2-40B4-BE49-F238E27FC236}">
                <ns2:creationId id="{1019E0C6-A9D2-4DF8-94A5-A61F64C35F6D}"/>
              </a:ext>
            </a:extLst>
          </ns0:cNvPr>
          <ns0:cNvSpPr>
            <a:spLocks noGrp="1"/>
          </ns0:cNvSpPr>
          <ns0:nvPr/>
        </ns0:nvSpPr>
        <ns0:spPr>
          <a:xfrm>
            <a:off x="3619500" y="37814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275" b="0">
                <a:solidFill>
                  <a:srgbClr val="D8E7F0"/>
                </a:solidFill>
              </a:defRPr>
            </a:pPr>
            <a:r>
              <a:rPr sz="1275" b="0" dirty="0">
                <a:solidFill>
                  <a:srgbClr val="D8E7F0"/>
                </a:solidFill>
              </a:rPr>
              <a:t>Routes &amp; </a:t>
            </a:r>
            <a:r>
              <a:rPr sz="1275" b="0" dirty="0" err="1">
                <a:solidFill>
                  <a:srgbClr val="D8E7F0"/>
                </a:solidFill>
              </a:rPr>
              <a:t>traitement</a:t>
            </a:r>
            <a:endParaRPr sz="1275" b="0" dirty="0">
              <a:solidFill>
                <a:srgbClr val="D8E7F0"/>
              </a:solidFill>
            </a:endParaRPr>
          </a:p>
        </ns0:txBody>
      </ns0:sp>
      <ns0:sp>
        <ns0:nvSpPr>
          <ns0:cNvPr id="16" name="Rectangle : coins arrondis 15">
            <a:extLst>
              <a:ext uri="{FF2B5EF4-FFF2-40B4-BE49-F238E27FC236}">
                <ns2:creationId id="{82E3AB56-74E8-4A43-B5E0-8F0F85A759EC}"/>
              </a:ext>
            </a:extLst>
          </ns0:cNvPr>
          <ns0:cNvSpPr>
            <a:spLocks noGrp="1"/>
          </ns0:cNvSpPr>
          <ns0:nvPr/>
        </ns0:nvSpPr>
        <ns0:spPr>
          <a:xfrm>
            <a:off x="6572250" y="2528887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7" name="Rectangle 16">
            <a:extLst>
              <a:ext uri="{FF2B5EF4-FFF2-40B4-BE49-F238E27FC236}">
                <ns2:creationId id="{A2E53A8C-525C-451A-8828-F94B6598136F}"/>
              </a:ext>
            </a:extLst>
          </ns0:cNvPr>
          <ns0:cNvSpPr>
            <a:spLocks noGrp="1"/>
          </ns0:cNvSpPr>
          <ns0:nvPr/>
        </ns0:nvSpPr>
        <ns0:spPr>
          <a:xfrm>
            <a:off x="6838950" y="2747962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725" b="1">
                <a:solidFill>
                  <a:srgbClr val="1479B8"/>
                </a:solidFill>
              </a:defRPr>
            </a:pPr>
            <a:r>
              <a:rPr sz="1725" b="1">
                <a:solidFill>
                  <a:srgbClr val="1479B8"/>
                </a:solidFill>
              </a:rPr>
              <a:t>Base MySQL</a:t>
            </a:r>
          </a:p>
        </ns0:txBody>
      </ns0:sp>
      <ns0:sp>
        <ns0:nvSpPr>
          <ns0:cNvPr id="18" name="Rectangle 17">
            <a:extLst>
              <a:ext uri="{FF2B5EF4-FFF2-40B4-BE49-F238E27FC236}">
                <ns2:creationId id="{8AAF5ED8-6894-4182-B933-0D3D517E2DD7}"/>
              </a:ext>
            </a:extLst>
          </ns0:cNvPr>
          <ns0:cNvSpPr>
            <a:spLocks noGrp="1"/>
          </ns0:cNvSpPr>
          <ns0:nvPr/>
        </ns0:nvSpPr>
        <ns0:spPr>
          <a:xfrm>
            <a:off x="6838950" y="3128962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Régions, départements, professions</a:t>
            </a:r>
          </a:p>
        </ns0:txBody>
      </ns0:sp>
      <ns0:sp>
        <ns0:nvSpPr>
          <ns0:cNvPr id="19" name="Rectangle : coins arrondis 18">
            <a:extLst>
              <a:ext uri="{FF2B5EF4-FFF2-40B4-BE49-F238E27FC236}">
                <ns2:creationId id="{21896062-6054-4039-90C6-6DC3A431112F}"/>
              </a:ext>
            </a:extLst>
          </ns0:cNvPr>
          <ns0:cNvSpPr>
            <a:spLocks noGrp="1"/>
          </ns0:cNvSpPr>
          <ns0:nvPr/>
        </ns0:nvSpPr>
        <ns0:spPr>
          <a:xfrm>
            <a:off x="6572250" y="3810000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0" name="Rectangle 19">
            <a:extLst>
              <a:ext uri="{FF2B5EF4-FFF2-40B4-BE49-F238E27FC236}">
                <ns2:creationId id="{293A07E8-8734-4AA4-A031-DDBABBC967FC}"/>
              </a:ext>
            </a:extLst>
          </ns0:cNvPr>
          <ns0:cNvSpPr>
            <a:spLocks noGrp="1"/>
          </ns0:cNvSpPr>
          <ns0:nvPr/>
        </ns0:nvSpPr>
        <ns0:spPr>
          <a:xfrm>
            <a:off x="6838950" y="4029075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725" b="1">
                <a:solidFill>
                  <a:srgbClr val="28B6B0"/>
                </a:solidFill>
              </a:defRPr>
            </a:pPr>
            <a:r>
              <a:rPr sz="1725" b="1">
                <a:solidFill>
                  <a:srgbClr val="28B6B0"/>
                </a:solidFill>
              </a:rPr>
              <a:t>Data Ameli</a:t>
            </a:r>
          </a:p>
        </ns0:txBody>
      </ns0:sp>
      <ns0:sp>
        <ns0:nvSpPr>
          <ns0:cNvPr id="21" name="Rectangle 20">
            <a:extLst>
              <a:ext uri="{FF2B5EF4-FFF2-40B4-BE49-F238E27FC236}">
                <ns2:creationId id="{096D27EC-0057-4A82-B4A5-7A857269B5A8}"/>
              </a:ext>
            </a:extLst>
          </ns0:cNvPr>
          <ns0:cNvSpPr>
            <a:spLocks noGrp="1"/>
          </ns0:cNvSpPr>
          <ns0:nvPr/>
        </ns0:nvSpPr>
        <ns0:spPr>
          <a:xfrm>
            <a:off x="6838950" y="4410075"/>
            <a:ext cx="2800350" cy="475488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7184"/>
                </a:solidFill>
              </a:defRPr>
            </a:pPr>
            <a:r>
              <a:rPr sz="1050" b="0">
                <a:solidFill>
                  <a:srgbClr val="5E7184"/>
                </a:solidFill>
              </a:rPr>
              <a:t>Effectifs, honoraires, prescriptions, pathologies</a:t>
            </a:r>
          </a:p>
        </ns0:txBody>
      </ns0:sp>
      <ns0:sp>
        <ns0:nvSpPr>
          <ns0:cNvPr id="22" name="Rectangle 21">
            <a:extLst>
              <a:ext uri="{FF2B5EF4-FFF2-40B4-BE49-F238E27FC236}">
                <ns2:creationId id="{0DF7FC8E-B64F-45B1-8924-54BE74D7C1F7}"/>
              </a:ext>
            </a:extLst>
          </ns0:cNvPr>
          <ns0:cNvSpPr>
            <a:spLocks noGrp="1"/>
          </ns0:cNvSpPr>
          <ns0:nvPr/>
        </ns0:nvSpPr>
        <ns0:spPr>
          <a:xfrm>
            <a:off x="685800" y="55245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Les résultats retournent ensuite vers l’interface sous forme de tableaux et graphiques.</a:t>
            </a:r>
          </a:p>
        </ns0:txBody>
      </ns0:sp>
      <ns0:sp>
        <ns0:nvSpPr>
          <ns0:cNvPr id="24" name="Rectangle 23"/>
          <ns0:cNvSpPr/>
          <ns0:nvPr/>
        </ns0:nvSpPr>
        <ns0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</ns0:spTree>
    <ns0:extLst>
      <ns0:ext uri="{BB962C8B-B14F-4D97-AF65-F5344CB8AC3E}">
        <ns3:creationId val="492505296"/>
      </ns0:ext>
    </ns0:extLst>
  </ns0:cSld>
  <ns0:clrMapOvr>
    <a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C64B2BC-577F-4BFB-9B7A-FA3C9839243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94B22B-88CE-4955-BB53-3DC88837A6BE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3AC38B-DCE4-495D-8169-2FAFB6E05BB0}"/>
              </a:ext>
            </a:extLst>
          </p:cNvPr>
          <p:cNvSpPr>
            <a:spLocks noGrp="1"/>
          </p:cNvSpPr>
          <p:nvPr/>
        </p:nvSpPr>
        <p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F5DD7D-5372-4894-A297-E947CB4A346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ARCHITECTURE MVC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4EA7A8-0149-431D-9812-6CF43A9203C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Une organisation claire pour faire évoluer l'application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56DDD37-37DF-4F84-865C-4A36EF0D3DC3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143250" cy="240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2D9FDCB-0792-4F23-B81A-91AED9E6809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143250" cy="533400"/>
          </a:xfrm>
          <a:prstGeom prst="roundRect">
            <a:avLst>
              <a:gd name="adj" fmla="val 21429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5E102D-2F31-4B19-9A41-22B78E56ECDC}"/>
              </a:ext>
            </a:extLst>
          </p:cNvPr>
          <p:cNvSpPr>
            <a:spLocks noGrp="1"/>
          </p:cNvSpPr>
          <p:nvPr/>
        </p:nvSpPr>
        <p:spPr>
          <a:xfrm>
            <a:off x="895350" y="2543175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97BE9-3162-490D-9074-50B35E40BA34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SQLAlchemy</a:t>
            </a:r>
          </a:p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Classes ORM</a:t>
            </a:r>
          </a:p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Accès MySQL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8A2B3-C495-48F3-A988-71CD81BA3925}"/>
              </a:ext>
            </a:extLst>
          </p:cNvPr>
          <p:cNvSpPr>
            <a:spLocks noGrp="1"/>
          </p:cNvSpPr>
          <p:nvPr/>
        </p:nvSpPr>
        <p:spPr>
          <a:xfrm>
            <a:off x="3810000" y="33813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3E12C38-B178-4A44-B797-81766EC87292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3143250" cy="240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71951F0-2C52-4F85-988B-34DB42D8002C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3143250" cy="533400"/>
          </a:xfrm>
          <a:prstGeom prst="roundRect">
            <a:avLst>
              <a:gd name="adj" fmla="val 21429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C03293-3563-4088-A6AA-444422B277A2}"/>
              </a:ext>
            </a:extLst>
          </p:cNvPr>
          <p:cNvSpPr>
            <a:spLocks noGrp="1"/>
          </p:cNvSpPr>
          <p:nvPr/>
        </p:nvSpPr>
        <p:spPr>
          <a:xfrm>
            <a:off x="4591050" y="2543175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Contrôleur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94790F-AB95-41C8-BCD6-0435A1E3788D}"/>
              </a:ext>
            </a:extLst>
          </p:cNvPr>
          <p:cNvSpPr>
            <a:spLocks noGrp="1"/>
          </p:cNvSpPr>
          <p:nvPr/>
        </p:nvSpPr>
        <p:spPr>
          <a:xfrm>
            <a:off x="4648200" y="3238500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Routes Flask</a:t>
            </a:r>
          </a:p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Blueprints</a:t>
            </a:r>
          </a:p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Appels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4D0DCD-16A7-4B22-969C-F15C1F54FB46}"/>
              </a:ext>
            </a:extLst>
          </p:cNvPr>
          <p:cNvSpPr>
            <a:spLocks noGrp="1"/>
          </p:cNvSpPr>
          <p:nvPr/>
        </p:nvSpPr>
        <p:spPr>
          <a:xfrm>
            <a:off x="7505700" y="33813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479B8"/>
                </a:solidFill>
              </a:defRPr>
            </a:pPr>
            <a:r>
              <a:rPr sz="2250" b="1">
                <a:solidFill>
                  <a:srgbClr val="1479B8"/>
                </a:solidFill>
              </a:rPr>
              <a:t>→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8ED3C84-985C-40FA-AD5C-3D5A650D3AD7}"/>
              </a:ext>
            </a:extLst>
          </p:cNvPr>
          <p:cNvSpPr>
            <a:spLocks noGrp="1"/>
          </p:cNvSpPr>
          <p:nvPr/>
        </p:nvSpPr>
        <p:spPr>
          <a:xfrm>
            <a:off x="8077200" y="2381250"/>
            <a:ext cx="3143250" cy="240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BF66613-FF00-45F0-BDDB-FB1A56AC3865}"/>
              </a:ext>
            </a:extLst>
          </p:cNvPr>
          <p:cNvSpPr>
            <a:spLocks noGrp="1"/>
          </p:cNvSpPr>
          <p:nvPr/>
        </p:nvSpPr>
        <p:spPr>
          <a:xfrm>
            <a:off x="8077200" y="2381250"/>
            <a:ext cx="3143250" cy="533400"/>
          </a:xfrm>
          <a:prstGeom prst="roundRect">
            <a:avLst>
              <a:gd name="adj" fmla="val 21429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3B13C9-C6A8-4634-82F3-2D4780043BFD}"/>
              </a:ext>
            </a:extLst>
          </p:cNvPr>
          <p:cNvSpPr>
            <a:spLocks noGrp="1"/>
          </p:cNvSpPr>
          <p:nvPr/>
        </p:nvSpPr>
        <p:spPr>
          <a:xfrm>
            <a:off x="8286750" y="2543175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245E4A-80E0-4B0F-A981-98AEEE23C138}"/>
              </a:ext>
            </a:extLst>
          </p:cNvPr>
          <p:cNvSpPr>
            <a:spLocks noGrp="1"/>
          </p:cNvSpPr>
          <p:nvPr/>
        </p:nvSpPr>
        <p:spPr>
          <a:xfrm>
            <a:off x="8343900" y="3238500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HTML</a:t>
            </a:r>
          </a:p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Jinja2</a:t>
            </a:r>
          </a:p>
          <a:p>
            <a:pPr algn="ctr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CSS + JavaScript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1D8F4F-28F5-4BD6-803E-3EF5FE52D0F0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5E7184"/>
                </a:solidFill>
              </a:defRPr>
            </a:pPr>
            <a:r>
              <a:rPr sz="1575" b="1">
                <a:solidFill>
                  <a:srgbClr val="5E7184"/>
                </a:solidFill>
              </a:rPr>
              <a:t>Cycle : l’utilisateur envoie ses critères → Flask traite → données récupérées → résultat affiché.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23162992"/>
      </p:ext>
    </p:extLst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7FAFC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34" name="Rectangle 33">
            <a:extLst>
              <a:ext uri="{FF2B5EF4-FFF2-40B4-BE49-F238E27FC236}">
                <ns2:creationId id="{F03D9B8C-6C2F-4A70-AA04-C8DA89263C47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ns0:txBody>
      </ns0:sp>
      <ns0:sp>
        <ns0:nvSpPr>
          <ns0:cNvPr id="2" name="Rectangle 1">
            <a:extLst>
              <a:ext uri="{FF2B5EF4-FFF2-40B4-BE49-F238E27FC236}">
                <ns2:creationId id="{21F53828-A147-4344-BCCD-A94C86FEA053}"/>
              </a:ext>
            </a:extLst>
          </ns0:cNvPr>
          <ns0:cNvSpPr>
            <a:spLocks noGrp="1"/>
          </ns0:cNvSpPr>
          <ns0:nvPr/>
        </ns0:nvSpPr>
        <ns0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08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492E80D9-BE93-4ADB-B60A-91B77C5D7772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4" name="Rectangle 3">
            <a:extLst>
              <a:ext uri="{FF2B5EF4-FFF2-40B4-BE49-F238E27FC236}">
                <ns2:creationId id="{98688C61-CF39-481F-A90A-924F9755491C}"/>
              </a:ext>
            </a:extLst>
          </ns0:cNvPr>
          <ns0:cNvSpPr>
            <a:spLocks noGrp="1"/>
          </ns0:cNvSpPr>
          <ns0:nvPr/>
        </ns0:nvSpPr>
        <ns0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TECHNOLOGIES UTILISÉES</a:t>
            </a:r>
          </a:p>
        </ns0:txBody>
      </ns0:sp>
      <ns0:sp>
        <ns0:nvSpPr>
          <ns0:cNvPr id="5" name="Rectangle 4">
            <a:extLst>
              <a:ext uri="{FF2B5EF4-FFF2-40B4-BE49-F238E27FC236}">
                <ns2:creationId id="{D53C56EE-ED00-4B5B-9CEB-DC0B544CFDFC}"/>
              </a:ext>
            </a:extLst>
          </ns0:cNvPr>
          <ns0:cNvSpPr>
            <a:spLocks noGrp="1"/>
          </ns0:cNvSpPr>
          <ns0:nvPr/>
        </ns0:nvSpPr>
        <ns0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Un ensemble cohérent, du serveur au graphique</a:t>
            </a:r>
          </a:p>
        </ns0:txBody>
      </ns0:sp>
      <ns0:sp>
        <ns0:nvSpPr>
          <ns0:cNvPr id="6" name="Rectangle : coins arrondis 5">
            <a:extLst>
              <a:ext uri="{FF2B5EF4-FFF2-40B4-BE49-F238E27FC236}">
                <ns2:creationId id="{202B367C-A777-4A45-BC29-85D3CB09569A}"/>
              </a:ext>
            </a:extLst>
          </ns0:cNvPr>
          <ns0:cNvSpPr>
            <a:spLocks noGrp="1"/>
          </ns0:cNvSpPr>
          <ns0:nvPr/>
        </ns0:nvSpPr>
        <ns0:spPr>
          <a:xfrm>
            <a:off x="685800" y="2324100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7" name="Rectangle : coins arrondis 6">
            <a:extLst>
              <a:ext uri="{FF2B5EF4-FFF2-40B4-BE49-F238E27FC236}">
                <ns2:creationId id="{CBD2987A-A48A-493E-8FC6-9201BA4A5D20}"/>
              </a:ext>
            </a:extLst>
          </ns0:cNvPr>
          <ns0:cNvSpPr>
            <a:spLocks noGrp="1"/>
          </ns0:cNvSpPr>
          <ns0:nvPr/>
        </ns0:nvSpPr>
        <ns0:spPr>
          <a:xfrm>
            <a:off x="685800" y="2324100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8" name="Rectangle 7">
            <a:extLst>
              <a:ext uri="{FF2B5EF4-FFF2-40B4-BE49-F238E27FC236}">
                <ns2:creationId id="{F795B3D0-7336-40EA-A8A3-4064130FB9E9}"/>
              </a:ext>
            </a:extLst>
          </ns0:cNvPr>
          <ns0:cNvSpPr>
            <a:spLocks noGrp="1"/>
          </ns0:cNvSpPr>
          <ns0:nvPr/>
        </ns0:nvSpPr>
        <ns0:spPr>
          <a:xfrm>
            <a:off x="952500" y="25717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Python</a:t>
            </a:r>
          </a:p>
        </ns0:txBody>
      </ns0:sp>
      <ns0:sp>
        <ns0:nvSpPr>
          <ns0:cNvPr id="9" name="Rectangle 8">
            <a:extLst>
              <a:ext uri="{FF2B5EF4-FFF2-40B4-BE49-F238E27FC236}">
                <ns2:creationId id="{B404A105-741B-4D22-B31C-B56037728595}"/>
              </a:ext>
            </a:extLst>
          </ns0:cNvPr>
          <ns0:cNvSpPr>
            <a:spLocks noGrp="1"/>
          </ns0:cNvSpPr>
          <ns0:nvPr/>
        </ns0:nvSpPr>
        <ns0:spPr>
          <a:xfrm>
            <a:off x="952500" y="293370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logique métier</a:t>
            </a:r>
          </a:p>
        </ns0:txBody>
      </ns0:sp>
      <ns0:sp>
        <ns0:nvSpPr>
          <ns0:cNvPr id="10" name="Rectangle : coins arrondis 9">
            <a:extLst>
              <a:ext uri="{FF2B5EF4-FFF2-40B4-BE49-F238E27FC236}">
                <ns2:creationId id="{F643CD24-A840-408C-A697-58D81E0A5AF0}"/>
              </a:ext>
            </a:extLst>
          </ns0:cNvPr>
          <ns0:cNvSpPr>
            <a:spLocks noGrp="1"/>
          </ns0:cNvSpPr>
          <ns0:nvPr/>
        </ns0:nvSpPr>
        <ns0:spPr>
          <a:xfrm>
            <a:off x="3371850" y="2324100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1" name="Rectangle : coins arrondis 10">
            <a:extLst>
              <a:ext uri="{FF2B5EF4-FFF2-40B4-BE49-F238E27FC236}">
                <ns2:creationId id="{FB4B5210-6A66-4DFD-A8EA-3C93D92A937F}"/>
              </a:ext>
            </a:extLst>
          </ns0:cNvPr>
          <ns0:cNvSpPr>
            <a:spLocks noGrp="1"/>
          </ns0:cNvSpPr>
          <ns0:nvPr/>
        </ns0:nvSpPr>
        <ns0:spPr>
          <a:xfrm>
            <a:off x="3371850" y="2324100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2" name="Rectangle 11">
            <a:extLst>
              <a:ext uri="{FF2B5EF4-FFF2-40B4-BE49-F238E27FC236}">
                <ns2:creationId id="{875B51AD-580E-4817-902D-C240FECDD067}"/>
              </a:ext>
            </a:extLst>
          </ns0:cNvPr>
          <ns0:cNvSpPr>
            <a:spLocks noGrp="1"/>
          </ns0:cNvSpPr>
          <ns0:nvPr/>
        </ns0:nvSpPr>
        <ns0:spPr>
          <a:xfrm>
            <a:off x="3638550" y="25717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Flask</a:t>
            </a:r>
          </a:p>
        </ns0:txBody>
      </ns0:sp>
      <ns0:sp>
        <ns0:nvSpPr>
          <ns0:cNvPr id="13" name="Rectangle 12">
            <a:extLst>
              <a:ext uri="{FF2B5EF4-FFF2-40B4-BE49-F238E27FC236}">
                <ns2:creationId id="{A18E274D-9630-4F44-BDF0-618A61BFAF9C}"/>
              </a:ext>
            </a:extLst>
          </ns0:cNvPr>
          <ns0:cNvSpPr>
            <a:spLocks noGrp="1"/>
          </ns0:cNvSpPr>
          <ns0:nvPr/>
        </ns0:nvSpPr>
        <ns0:spPr>
          <a:xfrm>
            <a:off x="3638550" y="293370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routes web</a:t>
            </a:r>
          </a:p>
        </ns0:txBody>
      </ns0:sp>
      <ns0:sp>
        <ns0:nvSpPr>
          <ns0:cNvPr id="14" name="Rectangle : coins arrondis 13">
            <a:extLst>
              <a:ext uri="{FF2B5EF4-FFF2-40B4-BE49-F238E27FC236}">
                <ns2:creationId id="{E6FDF665-0F92-42BC-ADF4-82E8E570A016}"/>
              </a:ext>
            </a:extLst>
          </ns0:cNvPr>
          <ns0:cNvSpPr>
            <a:spLocks noGrp="1"/>
          </ns0:cNvSpPr>
          <ns0:nvPr/>
        </ns0:nvSpPr>
        <ns0:spPr>
          <a:xfrm>
            <a:off x="6057900" y="2324100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5" name="Rectangle : coins arrondis 14">
            <a:extLst>
              <a:ext uri="{FF2B5EF4-FFF2-40B4-BE49-F238E27FC236}">
                <ns2:creationId id="{C1C52E82-3E3D-46B0-B859-5B114C2B3887}"/>
              </a:ext>
            </a:extLst>
          </ns0:cNvPr>
          <ns0:cNvSpPr>
            <a:spLocks noGrp="1"/>
          </ns0:cNvSpPr>
          <ns0:nvPr/>
        </ns0:nvSpPr>
        <ns0:spPr>
          <a:xfrm>
            <a:off x="6057900" y="2324100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6" name="Rectangle 15">
            <a:extLst>
              <a:ext uri="{FF2B5EF4-FFF2-40B4-BE49-F238E27FC236}">
                <ns2:creationId id="{F769122C-93BE-4FDB-945C-11304D53AFFB}"/>
              </a:ext>
            </a:extLst>
          </ns0:cNvPr>
          <ns0:cNvSpPr>
            <a:spLocks noGrp="1"/>
          </ns0:cNvSpPr>
          <ns0:nvPr/>
        </ns0:nvSpPr>
        <ns0:spPr>
          <a:xfrm>
            <a:off x="6324600" y="25717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SQLAlchemy</a:t>
            </a:r>
          </a:p>
        </ns0:txBody>
      </ns0:sp>
      <ns0:sp>
        <ns0:nvSpPr>
          <ns0:cNvPr id="17" name="Rectangle 16">
            <a:extLst>
              <a:ext uri="{FF2B5EF4-FFF2-40B4-BE49-F238E27FC236}">
                <ns2:creationId id="{05125C0E-ED03-4314-B7AD-EDC24B00932A}"/>
              </a:ext>
            </a:extLst>
          </ns0:cNvPr>
          <ns0:cNvSpPr>
            <a:spLocks noGrp="1"/>
          </ns0:cNvSpPr>
          <ns0:nvPr/>
        </ns0:nvSpPr>
        <ns0:spPr>
          <a:xfrm>
            <a:off x="6324600" y="293370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accès MySQL</a:t>
            </a:r>
          </a:p>
        </ns0:txBody>
      </ns0:sp>
      <ns0:sp>
        <ns0:nvSpPr>
          <ns0:cNvPr id="18" name="Rectangle : coins arrondis 17">
            <a:extLst>
              <a:ext uri="{FF2B5EF4-FFF2-40B4-BE49-F238E27FC236}">
                <ns2:creationId id="{7874FEF1-1B67-4666-86C8-93C9B4F43640}"/>
              </a:ext>
            </a:extLst>
          </ns0:cNvPr>
          <ns0:cNvSpPr>
            <a:spLocks noGrp="1"/>
          </ns0:cNvSpPr>
          <ns0:nvPr/>
        </ns0:nvSpPr>
        <ns0:spPr>
          <a:xfrm>
            <a:off x="8743950" y="2324100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9" name="Rectangle : coins arrondis 18">
            <a:extLst>
              <a:ext uri="{FF2B5EF4-FFF2-40B4-BE49-F238E27FC236}">
                <ns2:creationId id="{5D7C436A-BE38-44AE-91B5-17A490B2C034}"/>
              </a:ext>
            </a:extLst>
          </ns0:cNvPr>
          <ns0:cNvSpPr>
            <a:spLocks noGrp="1"/>
          </ns0:cNvSpPr>
          <ns0:nvPr/>
        </ns0:nvSpPr>
        <ns0:spPr>
          <a:xfrm>
            <a:off x="8743950" y="2324100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9525">
            <a:solidFill>
              <a:srgbClr val="F2B134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0" name="Rectangle 19">
            <a:extLst>
              <a:ext uri="{FF2B5EF4-FFF2-40B4-BE49-F238E27FC236}">
                <ns2:creationId id="{6F718E92-46BB-4D8E-A0E8-D95F3FD07A9D}"/>
              </a:ext>
            </a:extLst>
          </ns0:cNvPr>
          <ns0:cNvSpPr>
            <a:spLocks noGrp="1"/>
          </ns0:cNvSpPr>
          <ns0:nvPr/>
        </ns0:nvSpPr>
        <ns0:spPr>
          <a:xfrm>
            <a:off x="9010650" y="25717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Jinja2</a:t>
            </a:r>
          </a:p>
        </ns0:txBody>
      </ns0:sp>
      <ns0:sp>
        <ns0:nvSpPr>
          <ns0:cNvPr id="21" name="Rectangle 20">
            <a:extLst>
              <a:ext uri="{FF2B5EF4-FFF2-40B4-BE49-F238E27FC236}">
                <ns2:creationId id="{97186589-5876-4A43-A5B6-72442E3B97E6}"/>
              </a:ext>
            </a:extLst>
          </ns0:cNvPr>
          <ns0:cNvSpPr>
            <a:spLocks noGrp="1"/>
          </ns0:cNvSpPr>
          <ns0:nvPr/>
        </ns0:nvSpPr>
        <ns0:spPr>
          <a:xfrm>
            <a:off x="9010650" y="293370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pages dynamiques</a:t>
            </a:r>
          </a:p>
        </ns0:txBody>
      </ns0:sp>
      <ns0:sp>
        <ns0:nvSpPr>
          <ns0:cNvPr id="22" name="Rectangle : coins arrondis 21">
            <a:extLst>
              <a:ext uri="{FF2B5EF4-FFF2-40B4-BE49-F238E27FC236}">
                <ns2:creationId id="{4A9E9FE6-FB4E-43A4-B4FD-808DC963ACFE}"/>
              </a:ext>
            </a:extLst>
          </ns0:cNvPr>
          <ns0:cNvSpPr>
            <a:spLocks noGrp="1"/>
          </ns0:cNvSpPr>
          <ns0:nvPr/>
        </ns0:nvSpPr>
        <ns0:spPr>
          <a:xfrm>
            <a:off x="685800" y="3800475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3" name="Rectangle : coins arrondis 22">
            <a:extLst>
              <a:ext uri="{FF2B5EF4-FFF2-40B4-BE49-F238E27FC236}">
                <ns2:creationId id="{B6E1E07B-C1D6-4577-90EC-BAE16255E7EB}"/>
              </a:ext>
            </a:extLst>
          </ns0:cNvPr>
          <ns0:cNvSpPr>
            <a:spLocks noGrp="1"/>
          </ns0:cNvSpPr>
          <ns0:nvPr/>
        </ns0:nvSpPr>
        <ns0:spPr>
          <a:xfrm>
            <a:off x="685800" y="380047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1479B8"/>
          </a:solidFill>
          <a:ln w="9525">
            <a:solidFill>
              <a:srgbClr val="1479B8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4" name="Rectangle 23">
            <a:extLst>
              <a:ext uri="{FF2B5EF4-FFF2-40B4-BE49-F238E27FC236}">
                <ns2:creationId id="{81ACBAF8-F551-42A1-A498-F9B289BA90C4}"/>
              </a:ext>
            </a:extLst>
          </ns0:cNvPr>
          <ns0:cNvSpPr>
            <a:spLocks noGrp="1"/>
          </ns0:cNvSpPr>
          <ns0:nvPr/>
        </ns0:nvSpPr>
        <ns0:spPr>
          <a:xfrm>
            <a:off x="952500" y="404812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JavaScript / AJAX</a:t>
            </a:r>
          </a:p>
        </ns0:txBody>
      </ns0:sp>
      <ns0:sp>
        <ns0:nvSpPr>
          <ns0:cNvPr id="25" name="Rectangle 24">
            <a:extLst>
              <a:ext uri="{FF2B5EF4-FFF2-40B4-BE49-F238E27FC236}">
                <ns2:creationId id="{9DFE7788-CFE3-43C0-A53E-5D6455682DBC}"/>
              </a:ext>
            </a:extLst>
          </ns0:cNvPr>
          <ns0:cNvSpPr>
            <a:spLocks noGrp="1"/>
          </ns0:cNvSpPr>
          <ns0:nvPr/>
        </ns0:nvSpPr>
        <ns0:spPr>
          <a:xfrm>
            <a:off x="952500" y="4410075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interaction</a:t>
            </a:r>
          </a:p>
        </ns0:txBody>
      </ns0:sp>
      <ns0:sp>
        <ns0:nvSpPr>
          <ns0:cNvPr id="26" name="Rectangle : coins arrondis 25">
            <a:extLst>
              <a:ext uri="{FF2B5EF4-FFF2-40B4-BE49-F238E27FC236}">
                <ns2:creationId id="{6715833D-C9C6-4914-8B88-3ABFECE0A4BA}"/>
              </a:ext>
            </a:extLst>
          </ns0:cNvPr>
          <ns0:cNvSpPr>
            <a:spLocks noGrp="1"/>
          </ns0:cNvSpPr>
          <ns0:nvPr/>
        </ns0:nvSpPr>
        <ns0:spPr>
          <a:xfrm>
            <a:off x="3371850" y="3800475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7" name="Rectangle : coins arrondis 26">
            <a:extLst>
              <a:ext uri="{FF2B5EF4-FFF2-40B4-BE49-F238E27FC236}">
                <ns2:creationId id="{1DD6148B-EEA2-4B7A-8B6E-C6FAE8EA29D6}"/>
              </a:ext>
            </a:extLst>
          </ns0:cNvPr>
          <ns0:cNvSpPr>
            <a:spLocks noGrp="1"/>
          </ns0:cNvSpPr>
          <ns0:nvPr/>
        </ns0:nvSpPr>
        <ns0:spPr>
          <a:xfrm>
            <a:off x="3371850" y="380047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28B6B0"/>
          </a:solidFill>
          <a:ln w="9525">
            <a:solidFill>
              <a:srgbClr val="28B6B0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8" name="Rectangle 27">
            <a:extLst>
              <a:ext uri="{FF2B5EF4-FFF2-40B4-BE49-F238E27FC236}">
                <ns2:creationId id="{1051067A-F84F-485D-831A-195516B64C3D}"/>
              </a:ext>
            </a:extLst>
          </ns0:cNvPr>
          <ns0:cNvSpPr>
            <a:spLocks noGrp="1"/>
          </ns0:cNvSpPr>
          <ns0:nvPr/>
        </ns0:nvSpPr>
        <ns0:spPr>
          <a:xfrm>
            <a:off x="3638550" y="404812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Chart.js</a:t>
            </a:r>
          </a:p>
        </ns0:txBody>
      </ns0:sp>
      <ns0:sp>
        <ns0:nvSpPr>
          <ns0:cNvPr id="29" name="Rectangle 28">
            <a:extLst>
              <a:ext uri="{FF2B5EF4-FFF2-40B4-BE49-F238E27FC236}">
                <ns2:creationId id="{FE56DA3A-0DF6-48F2-B25B-11661018F492}"/>
              </a:ext>
            </a:extLst>
          </ns0:cNvPr>
          <ns0:cNvSpPr>
            <a:spLocks noGrp="1"/>
          </ns0:cNvSpPr>
          <ns0:nvPr/>
        </ns0:nvSpPr>
        <ns0:spPr>
          <a:xfrm>
            <a:off x="3638550" y="4410075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visualisation</a:t>
            </a:r>
          </a:p>
        </ns0:txBody>
      </ns0:sp>
      <ns0:sp>
        <ns0:nvSpPr>
          <ns0:cNvPr id="30" name="Rectangle : coins arrondis 29">
            <a:extLst>
              <a:ext uri="{FF2B5EF4-FFF2-40B4-BE49-F238E27FC236}">
                <ns2:creationId id="{AE1272F1-F028-4712-949A-B829B49B3A97}"/>
              </a:ext>
            </a:extLst>
          </ns0:cNvPr>
          <ns0:cNvSpPr>
            <a:spLocks noGrp="1"/>
          </ns0:cNvSpPr>
          <ns0:nvPr/>
        </ns0:nvSpPr>
        <ns0:spPr>
          <a:xfrm>
            <a:off x="6057900" y="3800475"/>
            <a:ext cx="2343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31" name="Rectangle : coins arrondis 30">
            <a:extLst>
              <a:ext uri="{FF2B5EF4-FFF2-40B4-BE49-F238E27FC236}">
                <ns2:creationId id="{36B588D1-7380-47EE-93F1-0C6436B3DF77}"/>
              </a:ext>
            </a:extLst>
          </ns0:cNvPr>
          <ns0:cNvSpPr>
            <a:spLocks noGrp="1"/>
          </ns0:cNvSpPr>
          <ns0:nvPr/>
        </ns0:nvSpPr>
        <ns0:spPr>
          <a:xfrm>
            <a:off x="6057900" y="380047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32" name="Rectangle 31">
            <a:extLst>
              <a:ext uri="{FF2B5EF4-FFF2-40B4-BE49-F238E27FC236}">
                <ns2:creationId id="{CE2DE6DB-72EE-4236-963E-2D9712C91C51}"/>
              </a:ext>
            </a:extLst>
          </ns0:cNvPr>
          <ns0:cNvSpPr>
            <a:spLocks noGrp="1"/>
          </ns0:cNvSpPr>
          <ns0:nvPr/>
        </ns0:nvSpPr>
        <ns0:spPr>
          <a:xfrm>
            <a:off x="6324600" y="404812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Leaflet</a:t>
            </a:r>
          </a:p>
        </ns0:txBody>
      </ns0:sp>
      <ns0:sp>
        <ns0:nvSpPr>
          <ns0:cNvPr id="33" name="Rectangle 32">
            <a:extLst>
              <a:ext uri="{FF2B5EF4-FFF2-40B4-BE49-F238E27FC236}">
                <ns2:creationId id="{A2220087-0B6B-4950-90B3-7F33DBD87D68}"/>
              </a:ext>
            </a:extLst>
          </ns0:cNvPr>
          <ns0:cNvSpPr>
            <a:spLocks noGrp="1"/>
          </ns0:cNvSpPr>
          <ns0:nvPr/>
        </ns0:nvSpPr>
        <ns0:spPr>
          <a:xfrm>
            <a:off x="6324600" y="4410075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0">
                <a:solidFill>
                  <a:srgbClr val="5E7184"/>
                </a:solidFill>
              </a:defRPr>
            </a:pPr>
            <a:r>
              <a:rPr sz="1200" b="0">
                <a:solidFill>
                  <a:srgbClr val="5E7184"/>
                </a:solidFill>
              </a:rPr>
              <a:t>carte interactive</a:t>
            </a:r>
          </a:p>
        </ns0:txBody>
      </ns0:sp>
      <ns0:sp>
        <ns0:nvSpPr>
          <ns0:cNvPr id="35" name="Rectangle 34"/>
          <ns0:cNvSpPr/>
          <ns0:nvPr/>
        </ns0:nvSpPr>
        <ns0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</ns0:spTree>
    <ns0:extLst>
      <ns0:ext uri="{BB962C8B-B14F-4D97-AF65-F5344CB8AC3E}">
        <ns3:creationId val="1966828781"/>
      </ns0:ext>
    </ns0:extLst>
  </ns0:cSld>
  <ns0:clrMapOvr>
    <a:masterClrMapping/>
  </ns0:clrMapOvr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7FAFC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31" name="Rectangle 30">
            <a:extLst>
              <a:ext uri="{FF2B5EF4-FFF2-40B4-BE49-F238E27FC236}">
                <ns2:creationId id="{4829E36D-BE08-4F26-9995-EC1293FBC96E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ns0:txBody>
      </ns0:sp>
      <ns0:sp>
        <ns0:nvSpPr>
          <ns0:cNvPr id="2" name="Rectangle 1">
            <a:extLst>
              <a:ext uri="{FF2B5EF4-FFF2-40B4-BE49-F238E27FC236}">
                <ns2:creationId id="{FC9FDB0F-488E-40CC-B872-18CA5ECBCB8C}"/>
              </a:ext>
            </a:extLst>
          </ns0:cNvPr>
          <ns0:cNvSpPr>
            <a:spLocks noGrp="1"/>
          </ns0:cNvSpPr>
          <ns0:nvPr/>
        </ns0:nvSpPr>
        <ns0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09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F2FDB496-D341-4CEB-8B0E-5BC356ECCA3A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4" name="Rectangle 3">
            <a:extLst>
              <a:ext uri="{FF2B5EF4-FFF2-40B4-BE49-F238E27FC236}">
                <ns2:creationId id="{CF6AA530-E3F3-4B47-B730-7447DDF56B10}"/>
              </a:ext>
            </a:extLst>
          </ns0:cNvPr>
          <ns0:cNvSpPr>
            <a:spLocks noGrp="1"/>
          </ns0:cNvSpPr>
          <ns0:nvPr/>
        </ns0:nvSpPr>
        <ns0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FONCTIONNALITÉS RÉALISÉES</a:t>
            </a:r>
          </a:p>
        </ns0:txBody>
      </ns0:sp>
      <ns0:sp>
        <ns0:nvSpPr>
          <ns0:cNvPr id="5" name="Rectangle 4">
            <a:extLst>
              <a:ext uri="{FF2B5EF4-FFF2-40B4-BE49-F238E27FC236}">
                <ns2:creationId id="{1B4F2A46-064B-4002-8ED6-0B77E3AE78E8}"/>
              </a:ext>
            </a:extLst>
          </ns0:cNvPr>
          <ns0:cNvSpPr>
            <a:spLocks noGrp="1"/>
          </ns0:cNvSpPr>
          <ns0:nvPr/>
        </ns0:nvSpPr>
        <ns0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De la sélection à la visualisation</a:t>
            </a:r>
          </a:p>
        </ns0:txBody>
      </ns0:sp>
      <ns0:sp>
        <ns0:nvSpPr>
          <ns0:cNvPr id="6" name="Rectangle 5">
            <a:extLst>
              <a:ext uri="{FF2B5EF4-FFF2-40B4-BE49-F238E27FC236}">
                <ns2:creationId id="{FF4D6A4C-DA20-4A85-9628-4C297FBA9AE0}"/>
              </a:ext>
            </a:extLst>
          </ns0:cNvPr>
          <ns0:cNvSpPr>
            <a:spLocks noGrp="1"/>
          </ns0:cNvSpPr>
          <ns0:nvPr/>
        </ns0:nvSpPr>
        <ns0:spPr>
          <a:xfrm>
            <a:off x="685800" y="22669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01</a:t>
            </a:r>
          </a:p>
        </ns0:txBody>
      </ns0:sp>
      <ns0:sp>
        <ns0:nvSpPr>
          <ns0:cNvPr id="7" name="Rectangle 6">
            <a:extLst>
              <a:ext uri="{FF2B5EF4-FFF2-40B4-BE49-F238E27FC236}">
                <ns2:creationId id="{8B6908C1-BBD2-4BE0-AAB8-E61A9ABA1008}"/>
              </a:ext>
            </a:extLst>
          </ns0:cNvPr>
          <ns0:cNvSpPr>
            <a:spLocks noGrp="1"/>
          </ns0:cNvSpPr>
          <ns0:nvPr/>
        </ns0:nvSpPr>
        <ns0:spPr>
          <a:xfrm>
            <a:off x="685800" y="26955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Accueil</a:t>
            </a:r>
          </a:p>
        </ns0:txBody>
      </ns0:sp>
      <ns0:sp>
        <ns0:nvSpPr>
          <ns0:cNvPr id="8" name="Rectangle 7">
            <a:extLst>
              <a:ext uri="{FF2B5EF4-FFF2-40B4-BE49-F238E27FC236}">
                <ns2:creationId id="{F54DB1AC-4C65-467A-BE67-DBEB65D6AE00}"/>
              </a:ext>
            </a:extLst>
          </ns0:cNvPr>
          <ns0:cNvSpPr>
            <a:spLocks noGrp="1"/>
          </ns0:cNvSpPr>
          <ns0:nvPr/>
        </ns0:nvSpPr>
        <ns0:spPr>
          <a:xfrm>
            <a:off x="685800" y="3038475"/>
            <a:ext cx="2952750" cy="2190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Profession + territoire</a:t>
            </a:r>
          </a:p>
        </ns0:txBody>
      </ns0:sp>
      <ns0:sp>
        <ns0:nvSpPr>
          <ns0:cNvPr id="9" name="Rectangle 8">
            <a:extLst>
              <a:ext uri="{FF2B5EF4-FFF2-40B4-BE49-F238E27FC236}">
                <ns2:creationId id="{2E672BCD-FCE0-4598-A887-9BB8711343FB}"/>
              </a:ext>
            </a:extLst>
          </ns0:cNvPr>
          <ns0:cNvSpPr>
            <a:spLocks noGrp="1"/>
          </ns0:cNvSpPr>
          <ns0:nvPr/>
        </ns0:nvSpPr>
        <ns0:spPr>
          <a:xfrm>
            <a:off x="685800" y="3438525"/>
            <a:ext cx="28956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0" name="Rectangle 9">
            <a:extLst>
              <a:ext uri="{FF2B5EF4-FFF2-40B4-BE49-F238E27FC236}">
                <ns2:creationId id="{9DA040C5-DB8F-4FA4-8C08-1BA80FB1A29D}"/>
              </a:ext>
            </a:extLst>
          </ns0:cNvPr>
          <ns0:cNvSpPr>
            <a:spLocks noGrp="1"/>
          </ns0:cNvSpPr>
          <ns0:nvPr/>
        </ns0:nvSpPr>
        <ns0:spPr>
          <a:xfrm>
            <a:off x="4305300" y="22669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02</a:t>
            </a:r>
          </a:p>
        </ns0:txBody>
      </ns0:sp>
      <ns0:sp>
        <ns0:nvSpPr>
          <ns0:cNvPr id="11" name="Rectangle 10">
            <a:extLst>
              <a:ext uri="{FF2B5EF4-FFF2-40B4-BE49-F238E27FC236}">
                <ns2:creationId id="{9305A74F-6F47-4220-9C35-82685E5B5FA7}"/>
              </a:ext>
            </a:extLst>
          </ns0:cNvPr>
          <ns0:cNvSpPr>
            <a:spLocks noGrp="1"/>
          </ns0:cNvSpPr>
          <ns0:nvPr/>
        </ns0:nvSpPr>
        <ns0:spPr>
          <a:xfrm>
            <a:off x="4305300" y="26955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Carte</a:t>
            </a:r>
          </a:p>
        </ns0:txBody>
      </ns0:sp>
      <ns0:sp>
        <ns0:nvSpPr>
          <ns0:cNvPr id="12" name="Rectangle 11">
            <a:extLst>
              <a:ext uri="{FF2B5EF4-FFF2-40B4-BE49-F238E27FC236}">
                <ns2:creationId id="{7C736B3C-CE0B-4DE8-B896-0D8F0E3D726C}"/>
              </a:ext>
            </a:extLst>
          </ns0:cNvPr>
          <ns0:cNvSpPr>
            <a:spLocks noGrp="1"/>
          </ns0:cNvSpPr>
          <ns0:nvPr/>
        </ns0:nvSpPr>
        <ns0:spPr>
          <a:xfrm>
            <a:off x="4305300" y="3038475"/>
            <a:ext cx="2952750" cy="2190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Région → département</a:t>
            </a:r>
          </a:p>
        </ns0:txBody>
      </ns0:sp>
      <ns0:sp>
        <ns0:nvSpPr>
          <ns0:cNvPr id="13" name="Rectangle 12">
            <a:extLst>
              <a:ext uri="{FF2B5EF4-FFF2-40B4-BE49-F238E27FC236}">
                <ns2:creationId id="{4EEE65D6-4570-472F-A05E-0E703A3AE105}"/>
              </a:ext>
            </a:extLst>
          </ns0:cNvPr>
          <ns0:cNvSpPr>
            <a:spLocks noGrp="1"/>
          </ns0:cNvSpPr>
          <ns0:nvPr/>
        </ns0:nvSpPr>
        <ns0:spPr>
          <a:xfrm>
            <a:off x="4305300" y="3438525"/>
            <a:ext cx="28956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4" name="Rectangle 13">
            <a:extLst>
              <a:ext uri="{FF2B5EF4-FFF2-40B4-BE49-F238E27FC236}">
                <ns2:creationId id="{A9CB3EF0-A608-42E9-9E92-F6C08C444DE0}"/>
              </a:ext>
            </a:extLst>
          </ns0:cNvPr>
          <ns0:cNvSpPr>
            <a:spLocks noGrp="1"/>
          </ns0:cNvSpPr>
          <ns0:nvPr/>
        </ns0:nvSpPr>
        <ns0:spPr>
          <a:xfrm>
            <a:off x="7924800" y="22669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03</a:t>
            </a:r>
          </a:p>
        </ns0:txBody>
      </ns0:sp>
      <ns0:sp>
        <ns0:nvSpPr>
          <ns0:cNvPr id="15" name="Rectangle 14">
            <a:extLst>
              <a:ext uri="{FF2B5EF4-FFF2-40B4-BE49-F238E27FC236}">
                <ns2:creationId id="{42381835-F667-4BBE-8CCE-B74BDB98DDF7}"/>
              </a:ext>
            </a:extLst>
          </ns0:cNvPr>
          <ns0:cNvSpPr>
            <a:spLocks noGrp="1"/>
          </ns0:cNvSpPr>
          <ns0:nvPr/>
        </ns0:nvSpPr>
        <ns0:spPr>
          <a:xfrm>
            <a:off x="7924800" y="26955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Analyses</a:t>
            </a:r>
          </a:p>
        </ns0:txBody>
      </ns0:sp>
      <ns0:sp>
        <ns0:nvSpPr>
          <ns0:cNvPr id="16" name="Rectangle 15">
            <a:extLst>
              <a:ext uri="{FF2B5EF4-FFF2-40B4-BE49-F238E27FC236}">
                <ns2:creationId id="{B39DBEC2-4DC5-400C-B91A-5E7A94A4D708}"/>
              </a:ext>
            </a:extLst>
          </ns0:cNvPr>
          <ns0:cNvSpPr>
            <a:spLocks noGrp="1"/>
          </ns0:cNvSpPr>
          <ns0:nvPr/>
        </ns0:nvSpPr>
        <ns0:spPr>
          <a:xfrm>
            <a:off x="7924800" y="3038475"/>
            <a:ext cx="2952750" cy="475488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E7184"/>
                </a:solidFill>
              </a:defRPr>
            </a:pPr>
            <a:r>
              <a:rPr sz="1050" b="0">
                <a:solidFill>
                  <a:srgbClr val="5E7184"/>
                </a:solidFill>
              </a:rPr>
              <a:t>Honoraires, prescriptions, pathologies</a:t>
            </a:r>
          </a:p>
        </ns0:txBody>
      </ns0:sp>
      <ns0:sp>
        <ns0:nvSpPr>
          <ns0:cNvPr id="17" name="Rectangle 16">
            <a:extLst>
              <a:ext uri="{FF2B5EF4-FFF2-40B4-BE49-F238E27FC236}">
                <ns2:creationId id="{D7DF555A-DE6B-41E5-B357-21ED6F1C5293}"/>
              </a:ext>
            </a:extLst>
          </ns0:cNvPr>
          <ns0:cNvSpPr>
            <a:spLocks noGrp="1"/>
          </ns0:cNvSpPr>
          <ns0:nvPr/>
        </ns0:nvSpPr>
        <ns0:spPr>
          <a:xfrm>
            <a:off x="7924800" y="3438525"/>
            <a:ext cx="28956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8" name="Rectangle 17">
            <a:extLst>
              <a:ext uri="{FF2B5EF4-FFF2-40B4-BE49-F238E27FC236}">
                <ns2:creationId id="{53E484EC-1120-4231-A226-D7B2A8BC2D51}"/>
              </a:ext>
            </a:extLst>
          </ns0:cNvPr>
          <ns0:cNvSpPr>
            <a:spLocks noGrp="1"/>
          </ns0:cNvSpPr>
          <ns0:nvPr/>
        </ns0:nvSpPr>
        <ns0:spPr>
          <a:xfrm>
            <a:off x="685800" y="36957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04</a:t>
            </a:r>
          </a:p>
        </ns0:txBody>
      </ns0:sp>
      <ns0:sp>
        <ns0:nvSpPr>
          <ns0:cNvPr id="19" name="Rectangle 18">
            <a:extLst>
              <a:ext uri="{FF2B5EF4-FFF2-40B4-BE49-F238E27FC236}">
                <ns2:creationId id="{1DA25859-D81C-4E37-AB0D-DFE421DCC90A}"/>
              </a:ext>
            </a:extLst>
          </ns0:cNvPr>
          <ns0:cNvSpPr>
            <a:spLocks noGrp="1"/>
          </ns0:cNvSpPr>
          <ns0:nvPr/>
        </ns0:nvSpPr>
        <ns0:spPr>
          <a:xfrm>
            <a:off x="685800" y="41243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Résultats</a:t>
            </a:r>
          </a:p>
        </ns0:txBody>
      </ns0:sp>
      <ns0:sp>
        <ns0:nvSpPr>
          <ns0:cNvPr id="20" name="Rectangle 19">
            <a:extLst>
              <a:ext uri="{FF2B5EF4-FFF2-40B4-BE49-F238E27FC236}">
                <ns2:creationId id="{5988FB04-E4A1-4956-A918-10AA48D111CE}"/>
              </a:ext>
            </a:extLst>
          </ns0:cNvPr>
          <ns0:cNvSpPr>
            <a:spLocks noGrp="1"/>
          </ns0:cNvSpPr>
          <ns0:nvPr/>
        </ns0:nvSpPr>
        <ns0:spPr>
          <a:xfrm>
            <a:off x="685800" y="4467225"/>
            <a:ext cx="2952750" cy="475488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E7184"/>
                </a:solidFill>
              </a:defRPr>
            </a:pPr>
            <a:r>
              <a:rPr sz="1050" b="0">
                <a:solidFill>
                  <a:srgbClr val="5E7184"/>
                </a:solidFill>
              </a:rPr>
              <a:t>KPI + tableaux CSV</a:t>
            </a:r>
          </a:p>
        </ns0:txBody>
      </ns0:sp>
      <ns0:sp>
        <ns0:nvSpPr>
          <ns0:cNvPr id="21" name="Rectangle 20">
            <a:extLst>
              <a:ext uri="{FF2B5EF4-FFF2-40B4-BE49-F238E27FC236}">
                <ns2:creationId id="{91A8F608-394B-41E1-B026-4934630FD93A}"/>
              </a:ext>
            </a:extLst>
          </ns0:cNvPr>
          <ns0:cNvSpPr>
            <a:spLocks noGrp="1"/>
          </ns0:cNvSpPr>
          <ns0:nvPr/>
        </ns0:nvSpPr>
        <ns0:spPr>
          <a:xfrm>
            <a:off x="685800" y="4867275"/>
            <a:ext cx="28956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2" name="Rectangle 21">
            <a:extLst>
              <a:ext uri="{FF2B5EF4-FFF2-40B4-BE49-F238E27FC236}">
                <ns2:creationId id="{136907A3-0494-433F-9482-4FBB9CA2B843}"/>
              </a:ext>
            </a:extLst>
          </ns0:cNvPr>
          <ns0:cNvSpPr>
            <a:spLocks noGrp="1"/>
          </ns0:cNvSpPr>
          <ns0:nvPr/>
        </ns0:nvSpPr>
        <ns0:spPr>
          <a:xfrm>
            <a:off x="4305300" y="36957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05</a:t>
            </a:r>
          </a:p>
        </ns0:txBody>
      </ns0:sp>
      <ns0:sp>
        <ns0:nvSpPr>
          <ns0:cNvPr id="23" name="Rectangle 22">
            <a:extLst>
              <a:ext uri="{FF2B5EF4-FFF2-40B4-BE49-F238E27FC236}">
                <ns2:creationId id="{558EEA98-5138-4514-8524-9CD2CCF2CACB}"/>
              </a:ext>
            </a:extLst>
          </ns0:cNvPr>
          <ns0:cNvSpPr>
            <a:spLocks noGrp="1"/>
          </ns0:cNvSpPr>
          <ns0:nvPr/>
        </ns0:nvSpPr>
        <ns0:spPr>
          <a:xfrm>
            <a:off x="4305300" y="41243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Graphiques</a:t>
            </a:r>
          </a:p>
        </ns0:txBody>
      </ns0:sp>
      <ns0:sp>
        <ns0:nvSpPr>
          <ns0:cNvPr id="24" name="Rectangle 23">
            <a:extLst>
              <a:ext uri="{FF2B5EF4-FFF2-40B4-BE49-F238E27FC236}">
                <ns2:creationId id="{47C967B2-24E4-4053-8085-B762D34F66E8}"/>
              </a:ext>
            </a:extLst>
          </ns0:cNvPr>
          <ns0:cNvSpPr>
            <a:spLocks noGrp="1"/>
          </ns0:cNvSpPr>
          <ns0:nvPr/>
        </ns0:nvSpPr>
        <ns0:spPr>
          <a:xfrm>
            <a:off x="4305300" y="4467225"/>
            <a:ext cx="2952750" cy="2190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Évolution et répartition</a:t>
            </a:r>
          </a:p>
        </ns0:txBody>
      </ns0:sp>
      <ns0:sp>
        <ns0:nvSpPr>
          <ns0:cNvPr id="25" name="Rectangle 24">
            <a:extLst>
              <a:ext uri="{FF2B5EF4-FFF2-40B4-BE49-F238E27FC236}">
                <ns2:creationId id="{04ECD434-C2A5-4BFB-AE71-74135C3AEF3B}"/>
              </a:ext>
            </a:extLst>
          </ns0:cNvPr>
          <ns0:cNvSpPr>
            <a:spLocks noGrp="1"/>
          </ns0:cNvSpPr>
          <ns0:nvPr/>
        </ns0:nvSpPr>
        <ns0:spPr>
          <a:xfrm>
            <a:off x="4305300" y="4867275"/>
            <a:ext cx="28956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6" name="Rectangle 25">
            <a:extLst>
              <a:ext uri="{FF2B5EF4-FFF2-40B4-BE49-F238E27FC236}">
                <ns2:creationId id="{657DBAAA-EE9C-4F15-B75A-905ECC2256EE}"/>
              </a:ext>
            </a:extLst>
          </ns0:cNvPr>
          <ns0:cNvSpPr>
            <a:spLocks noGrp="1"/>
          </ns0:cNvSpPr>
          <ns0:nvPr/>
        </ns0:nvSpPr>
        <ns0:spPr>
          <a:xfrm>
            <a:off x="7924800" y="36957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28B6B0"/>
                </a:solidFill>
              </a:defRPr>
            </a:pPr>
            <a:r>
              <a:rPr sz="1650" b="1">
                <a:solidFill>
                  <a:srgbClr val="28B6B0"/>
                </a:solidFill>
              </a:rPr>
              <a:t>06</a:t>
            </a:r>
          </a:p>
        </ns0:txBody>
      </ns0:sp>
      <ns0:sp>
        <ns0:nvSpPr>
          <ns0:cNvPr id="27" name="Rectangle 26">
            <a:extLst>
              <a:ext uri="{FF2B5EF4-FFF2-40B4-BE49-F238E27FC236}">
                <ns2:creationId id="{539ED039-0F4F-464C-8D0A-41DC214630AE}"/>
              </a:ext>
            </a:extLst>
          </ns0:cNvPr>
          <ns0:cNvSpPr>
            <a:spLocks noGrp="1"/>
          </ns0:cNvSpPr>
          <ns0:nvPr/>
        </ns0:nvSpPr>
        <ns0:spPr>
          <a:xfrm>
            <a:off x="7924800" y="41243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Comparaison</a:t>
            </a:r>
          </a:p>
        </ns0:txBody>
      </ns0:sp>
      <ns0:sp>
        <ns0:nvSpPr>
          <ns0:cNvPr id="28" name="Rectangle 27">
            <a:extLst>
              <a:ext uri="{FF2B5EF4-FFF2-40B4-BE49-F238E27FC236}">
                <ns2:creationId id="{98A61E36-B42F-4EB5-A44A-5AEFC2789BBA}"/>
              </a:ext>
            </a:extLst>
          </ns0:cNvPr>
          <ns0:cNvSpPr>
            <a:spLocks noGrp="1"/>
          </ns0:cNvSpPr>
          <ns0:nvPr/>
        </ns0:nvSpPr>
        <ns0:spPr>
          <a:xfrm>
            <a:off x="7924800" y="4467225"/>
            <a:ext cx="2952750" cy="2190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Territoires, professions, sexe, âge</a:t>
            </a:r>
          </a:p>
        </ns0:txBody>
      </ns0:sp>
      <ns0:sp>
        <ns0:nvSpPr>
          <ns0:cNvPr id="29" name="Rectangle 28">
            <a:extLst>
              <a:ext uri="{FF2B5EF4-FFF2-40B4-BE49-F238E27FC236}">
                <ns2:creationId id="{30F83B11-D729-49E6-87D0-84B54E16ACDF}"/>
              </a:ext>
            </a:extLst>
          </ns0:cNvPr>
          <ns0:cNvSpPr>
            <a:spLocks noGrp="1"/>
          </ns0:cNvSpPr>
          <ns0:nvPr/>
        </ns0:nvSpPr>
        <ns0:spPr>
          <a:xfrm>
            <a:off x="7924800" y="4867275"/>
            <a:ext cx="2895600" cy="47625"/>
          </a:xfrm>
          <a:prstGeom prst="rect">
            <a:avLst/>
          </a:prstGeom>
          <a:solidFill>
            <a:srgbClr val="F2B134"/>
          </a:solidFill>
          <a:ln w="0">
            <a:solidFill>
              <a:srgbClr val="F2B134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30" name="Rectangle 29">
            <a:extLst>
              <a:ext uri="{FF2B5EF4-FFF2-40B4-BE49-F238E27FC236}">
                <ns2:creationId id="{5610F754-4870-459D-B758-B057D10F0927}"/>
              </a:ext>
            </a:extLst>
          </ns0:cNvPr>
          <ns0:cNvSpPr>
            <a:spLocks noGrp="1"/>
          </ns0:cNvSpPr>
          <ns0:nvPr/>
        </ns0:nvSpPr>
        <ns0:spPr>
          <a:xfrm>
            <a:off x="685800" y="5372100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>
              <a:defRPr sz="1350" b="0">
                <a:solidFill>
                  <a:srgbClr val="5E7184"/>
                </a:solidFill>
              </a:defRPr>
            </a:pPr>
            <a:r>
              <a:rPr lang="fr-FR" sz="1350" dirty="0"/>
              <a:t>Les tableaux peuvent être triés puis téléchargés au format CSV.</a:t>
            </a:r>
            <a:endParaRPr sz="1350" b="0" dirty="0">
              <a:solidFill>
                <a:srgbClr val="5E7184"/>
              </a:solidFill>
            </a:endParaRPr>
          </a:p>
        </ns0:txBody>
      </ns0:sp>
      <ns0:sp>
        <ns0:nvSpPr>
          <ns0:cNvPr id="32" name="Rectangle 31"/>
          <ns0:cNvSpPr/>
          <ns0:nvPr/>
        </ns0:nvSpPr>
        <ns0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</ns0:spTree>
    <ns0:extLst>
      <ns0:ext uri="{BB962C8B-B14F-4D97-AF65-F5344CB8AC3E}">
        <ns3:creationId val="991816865"/>
      </ns0:ext>
    </ns0:extLst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7FAFC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7" name="Rectangle 26">
            <a:extLst>
              <a:ext uri="{FF2B5EF4-FFF2-40B4-BE49-F238E27FC236}">
                <ns2:creationId id="{01C3A02D-C7A1-4BA7-B3A7-E6F3927646FE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ns0:txBody>
      </ns0:sp>
      <ns0:sp>
        <ns0:nvSpPr>
          <ns0:cNvPr id="2" name="Rectangle 1">
            <a:extLst>
              <a:ext uri="{FF2B5EF4-FFF2-40B4-BE49-F238E27FC236}">
                <ns2:creationId id="{C1067226-7DCF-44F9-9966-351A1966DD45}"/>
              </a:ext>
            </a:extLst>
          </ns0:cNvPr>
          <ns0:cNvSpPr>
            <a:spLocks noGrp="1"/>
          </ns0:cNvSpPr>
          <ns0:nvPr/>
        </ns0:nvSpPr>
        <ns0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10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19846510-0E84-4135-9AB0-2A402EA6A439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4" name="Rectangle 3">
            <a:extLst>
              <a:ext uri="{FF2B5EF4-FFF2-40B4-BE49-F238E27FC236}">
                <ns2:creationId id="{7BB5FE48-C427-4589-B572-91855D3E8217}"/>
              </a:ext>
            </a:extLst>
          </ns0:cNvPr>
          <ns0:cNvSpPr>
            <a:spLocks noGrp="1"/>
          </ns0:cNvSpPr>
          <ns0:nvPr/>
        </ns0:nvSpPr>
        <ns0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DIFFICULTÉS RENCONTRÉES</a:t>
            </a:r>
          </a:p>
        </ns0:txBody>
      </ns0:sp>
      <ns0:sp>
        <ns0:nvSpPr>
          <ns0:cNvPr id="5" name="Rectangle 4">
            <a:extLst>
              <a:ext uri="{FF2B5EF4-FFF2-40B4-BE49-F238E27FC236}">
                <ns2:creationId id="{BD153E9C-7FA2-4F2A-BB6D-3A753E5DD60B}"/>
              </a:ext>
            </a:extLst>
          </ns0:cNvPr>
          <ns0:cNvSpPr>
            <a:spLocks noGrp="1"/>
          </ns0:cNvSpPr>
          <ns0:nvPr/>
        </ns0:nvSpPr>
        <ns0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Des défis techniques qui ont structuré notre apprentissage</a:t>
            </a:r>
          </a:p>
        </ns0:txBody>
      </ns0:sp>
      <ns0:sp>
        <ns0:nvSpPr>
          <ns0:cNvPr id="6" name="Rectangle : coins arrondis 5">
            <a:extLst>
              <a:ext uri="{FF2B5EF4-FFF2-40B4-BE49-F238E27FC236}">
                <ns2:creationId id="{FBD37E53-0818-44BB-B19D-0A1DCD517CF8}"/>
              </a:ext>
            </a:extLst>
          </ns0:cNvPr>
          <ns0:cNvSpPr>
            <a:spLocks noGrp="1"/>
          </ns0:cNvSpPr>
          <ns0:nvPr/>
        </ns0:nvSpPr>
        <ns0:spPr>
          <a:xfrm>
            <a:off x="685800" y="213360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7" name="Rectangle 6">
            <a:extLst>
              <a:ext uri="{FF2B5EF4-FFF2-40B4-BE49-F238E27FC236}">
                <ns2:creationId id="{6E18A95A-FE39-44EF-AFF2-7732D0DF5CFB}"/>
              </a:ext>
            </a:extLst>
          </ns0:cNvPr>
          <ns0:cNvSpPr>
            <a:spLocks noGrp="1"/>
          </ns0:cNvSpPr>
          <ns0:nvPr/>
        </ns0:nvSpPr>
        <ns0:spPr>
          <a:xfrm>
            <a:off x="857250" y="225742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D85A5A"/>
                </a:solidFill>
              </a:defRPr>
            </a:pPr>
            <a:r>
              <a:rPr sz="1200" b="1">
                <a:solidFill>
                  <a:srgbClr val="D85A5A"/>
                </a:solidFill>
              </a:rPr>
              <a:t>01</a:t>
            </a:r>
          </a:p>
        </ns0:txBody>
      </ns0:sp>
      <ns0:sp>
        <ns0:nvSpPr>
          <ns0:cNvPr id="8" name="Rectangle 7">
            <a:extLst>
              <a:ext uri="{FF2B5EF4-FFF2-40B4-BE49-F238E27FC236}">
                <ns2:creationId id="{C8519A7E-D2F0-4221-B5E7-F656D20F4952}"/>
              </a:ext>
            </a:extLst>
          </ns0:cNvPr>
          <ns0:cNvSpPr>
            <a:spLocks noGrp="1"/>
          </ns0:cNvSpPr>
          <ns0:nvPr/>
        </ns0:nvSpPr>
        <ns0:spPr>
          <a:xfrm>
            <a:off x="1485900" y="22479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API Ameli</a:t>
            </a:r>
          </a:p>
        </ns0:txBody>
      </ns0:sp>
      <ns0:sp>
        <ns0:nvSpPr>
          <ns0:cNvPr id="9" name="Rectangle 8">
            <a:extLst>
              <a:ext uri="{FF2B5EF4-FFF2-40B4-BE49-F238E27FC236}">
                <ns2:creationId id="{49FBE2D0-CF46-41CF-83D1-7F30D8B4EEEF}"/>
              </a:ext>
            </a:extLst>
          </ns0:cNvPr>
          <ns0:cNvSpPr>
            <a:spLocks noGrp="1"/>
          </ns0:cNvSpPr>
          <ns0:nvPr/>
        </ns0:nvSpPr>
        <ns0:spPr>
          <a:xfrm>
            <a:off x="3467100" y="22479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5E7184"/>
                </a:solidFill>
              </a:defRPr>
            </a:pPr>
            <a:r>
              <a:rPr sz="1350" b="0">
                <a:solidFill>
                  <a:srgbClr val="5E7184"/>
                </a:solidFill>
              </a:rPr>
              <a:t>Comprendre les endpoints et les paramètres</a:t>
            </a:r>
          </a:p>
        </ns0:txBody>
      </ns0:sp>
      <ns0:sp>
        <ns0:nvSpPr>
          <ns0:cNvPr id="10" name="Rectangle : coins arrondis 9">
            <a:extLst>
              <a:ext uri="{FF2B5EF4-FFF2-40B4-BE49-F238E27FC236}">
                <ns2:creationId id="{C2394797-F48B-446B-BD50-F9B6851B27A2}"/>
              </a:ext>
            </a:extLst>
          </ns0:cNvPr>
          <ns0:cNvSpPr>
            <a:spLocks noGrp="1"/>
          </ns0:cNvSpPr>
          <ns0:nvPr/>
        </ns0:nvSpPr>
        <ns0:spPr>
          <a:xfrm>
            <a:off x="685800" y="2752725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1" name="Rectangle 10">
            <a:extLst>
              <a:ext uri="{FF2B5EF4-FFF2-40B4-BE49-F238E27FC236}">
                <ns2:creationId id="{1FD2F1F6-B6F8-4855-9D5C-3FA51E5965CF}"/>
              </a:ext>
            </a:extLst>
          </ns0:cNvPr>
          <ns0:cNvSpPr>
            <a:spLocks noGrp="1"/>
          </ns0:cNvSpPr>
          <ns0:nvPr/>
        </ns0:nvSpPr>
        <ns0:spPr>
          <a:xfrm>
            <a:off x="857250" y="28765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D85A5A"/>
                </a:solidFill>
              </a:defRPr>
            </a:pPr>
            <a:r>
              <a:rPr sz="1200" b="1">
                <a:solidFill>
                  <a:srgbClr val="D85A5A"/>
                </a:solidFill>
              </a:rPr>
              <a:t>02</a:t>
            </a:r>
          </a:p>
        </ns0:txBody>
      </ns0:sp>
      <ns0:sp>
        <ns0:nvSpPr>
          <ns0:cNvPr id="12" name="Rectangle 11">
            <a:extLst>
              <a:ext uri="{FF2B5EF4-FFF2-40B4-BE49-F238E27FC236}">
                <ns2:creationId id="{B58CB98E-47EC-4EBF-A299-E7386A45598C}"/>
              </a:ext>
            </a:extLst>
          </ns0:cNvPr>
          <ns0:cNvSpPr>
            <a:spLocks noGrp="1"/>
          </ns0:cNvSpPr>
          <ns0:nvPr/>
        </ns0:nvSpPr>
        <ns0:spPr>
          <a:xfrm>
            <a:off x="1485900" y="286702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JSON</a:t>
            </a:r>
          </a:p>
        </ns0:txBody>
      </ns0:sp>
      <ns0:sp>
        <ns0:nvSpPr>
          <ns0:cNvPr id="13" name="Rectangle 12">
            <a:extLst>
              <a:ext uri="{FF2B5EF4-FFF2-40B4-BE49-F238E27FC236}">
                <ns2:creationId id="{46D30110-89E0-4BB7-BF71-E7A25F3FD03A}"/>
              </a:ext>
            </a:extLst>
          </ns0:cNvPr>
          <ns0:cNvSpPr>
            <a:spLocks noGrp="1"/>
          </ns0:cNvSpPr>
          <ns0:nvPr/>
        </ns0:nvSpPr>
        <ns0:spPr>
          <a:xfrm>
            <a:off x="3467100" y="28670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5E7184"/>
                </a:solidFill>
              </a:defRPr>
            </a:pPr>
            <a:r>
              <a:rPr sz="1350" b="0">
                <a:solidFill>
                  <a:srgbClr val="5E7184"/>
                </a:solidFill>
              </a:rPr>
              <a:t>Transformer les réponses en données exploitables</a:t>
            </a:r>
          </a:p>
        </ns0:txBody>
      </ns0:sp>
      <ns0:sp>
        <ns0:nvSpPr>
          <ns0:cNvPr id="14" name="Rectangle : coins arrondis 13">
            <a:extLst>
              <a:ext uri="{FF2B5EF4-FFF2-40B4-BE49-F238E27FC236}">
                <ns2:creationId id="{04E21CFA-9D31-48CC-9C05-DA7AB3FE1F96}"/>
              </a:ext>
            </a:extLst>
          </ns0:cNvPr>
          <ns0:cNvSpPr>
            <a:spLocks noGrp="1"/>
          </ns0:cNvSpPr>
          <ns0:nvPr/>
        </ns0:nvSpPr>
        <ns0:spPr>
          <a:xfrm>
            <a:off x="685800" y="337185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5" name="Rectangle 14">
            <a:extLst>
              <a:ext uri="{FF2B5EF4-FFF2-40B4-BE49-F238E27FC236}">
                <ns2:creationId id="{85722456-2EA4-4C7C-AE31-279061B2B938}"/>
              </a:ext>
            </a:extLst>
          </ns0:cNvPr>
          <ns0:cNvSpPr>
            <a:spLocks noGrp="1"/>
          </ns0:cNvSpPr>
          <ns0:nvPr/>
        </ns0:nvSpPr>
        <ns0:spPr>
          <a:xfrm>
            <a:off x="857250" y="34956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D85A5A"/>
                </a:solidFill>
              </a:defRPr>
            </a:pPr>
            <a:r>
              <a:rPr sz="1200" b="1">
                <a:solidFill>
                  <a:srgbClr val="D85A5A"/>
                </a:solidFill>
              </a:rPr>
              <a:t>03</a:t>
            </a:r>
          </a:p>
        </ns0:txBody>
      </ns0:sp>
      <ns0:sp>
        <ns0:nvSpPr>
          <ns0:cNvPr id="16" name="Rectangle 15">
            <a:extLst>
              <a:ext uri="{FF2B5EF4-FFF2-40B4-BE49-F238E27FC236}">
                <ns2:creationId id="{1C4B79D7-6891-422F-9980-AEB443E4BFA3}"/>
              </a:ext>
            </a:extLst>
          </ns0:cNvPr>
          <ns0:cNvSpPr>
            <a:spLocks noGrp="1"/>
          </ns0:cNvSpPr>
          <ns0:nvPr/>
        </ns0:nvSpPr>
        <ns0:spPr>
          <a:xfrm>
            <a:off x="1485900" y="34861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AJAX</a:t>
            </a:r>
          </a:p>
        </ns0:txBody>
      </ns0:sp>
      <ns0:sp>
        <ns0:nvSpPr>
          <ns0:cNvPr id="17" name="Rectangle 16">
            <a:extLst>
              <a:ext uri="{FF2B5EF4-FFF2-40B4-BE49-F238E27FC236}">
                <ns2:creationId id="{C6DE4C6E-6C01-4A61-9017-62B5E7258781}"/>
              </a:ext>
            </a:extLst>
          </ns0:cNvPr>
          <ns0:cNvSpPr>
            <a:spLocks noGrp="1"/>
          </ns0:cNvSpPr>
          <ns0:nvPr/>
        </ns0:nvSpPr>
        <ns0:spPr>
          <a:xfrm>
            <a:off x="3467100" y="34861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5E7184"/>
                </a:solidFill>
              </a:defRPr>
            </a:pPr>
            <a:r>
              <a:rPr sz="1350" b="0">
                <a:solidFill>
                  <a:srgbClr val="5E7184"/>
                </a:solidFill>
              </a:rPr>
              <a:t>Coordonner navigateur, route Flask et réponse</a:t>
            </a:r>
          </a:p>
        </ns0:txBody>
      </ns0:sp>
      <ns0:sp>
        <ns0:nvSpPr>
          <ns0:cNvPr id="18" name="Rectangle : coins arrondis 17">
            <a:extLst>
              <a:ext uri="{FF2B5EF4-FFF2-40B4-BE49-F238E27FC236}">
                <ns2:creationId id="{35F7CADE-3600-4F63-9D60-519B1A69C766}"/>
              </a:ext>
            </a:extLst>
          </ns0:cNvPr>
          <ns0:cNvSpPr>
            <a:spLocks noGrp="1"/>
          </ns0:cNvSpPr>
          <ns0:nvPr/>
        </ns0:nvSpPr>
        <ns0:spPr>
          <a:xfrm>
            <a:off x="685800" y="3990975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9" name="Rectangle 18">
            <a:extLst>
              <a:ext uri="{FF2B5EF4-FFF2-40B4-BE49-F238E27FC236}">
                <ns2:creationId id="{9B30EFF1-78F7-4E7A-A6CB-BB5827E5E336}"/>
              </a:ext>
            </a:extLst>
          </ns0:cNvPr>
          <ns0:cNvSpPr>
            <a:spLocks noGrp="1"/>
          </ns0:cNvSpPr>
          <ns0:nvPr/>
        </ns0:nvSpPr>
        <ns0:spPr>
          <a:xfrm>
            <a:off x="857250" y="4114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D85A5A"/>
                </a:solidFill>
              </a:defRPr>
            </a:pPr>
            <a:r>
              <a:rPr sz="1200" b="1">
                <a:solidFill>
                  <a:srgbClr val="D85A5A"/>
                </a:solidFill>
              </a:rPr>
              <a:t>04</a:t>
            </a:r>
          </a:p>
        </ns0:txBody>
      </ns0:sp>
      <ns0:sp>
        <ns0:nvSpPr>
          <ns0:cNvPr id="20" name="Rectangle 19">
            <a:extLst>
              <a:ext uri="{FF2B5EF4-FFF2-40B4-BE49-F238E27FC236}">
                <ns2:creationId id="{9295A671-4EF4-422E-83FF-89E4D7238030}"/>
              </a:ext>
            </a:extLst>
          </ns0:cNvPr>
          <ns0:cNvSpPr>
            <a:spLocks noGrp="1"/>
          </ns0:cNvSpPr>
          <ns0:nvPr/>
        </ns0:nvSpPr>
        <ns0:spPr>
          <a:xfrm>
            <a:off x="1485900" y="41052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Flask</a:t>
            </a:r>
          </a:p>
        </ns0:txBody>
      </ns0:sp>
      <ns0:sp>
        <ns0:nvSpPr>
          <ns0:cNvPr id="21" name="Rectangle 20">
            <a:extLst>
              <a:ext uri="{FF2B5EF4-FFF2-40B4-BE49-F238E27FC236}">
                <ns2:creationId id="{C5FB8AA2-3F2C-4C0E-8956-5FACD1762525}"/>
              </a:ext>
            </a:extLst>
          </ns0:cNvPr>
          <ns0:cNvSpPr>
            <a:spLocks noGrp="1"/>
          </ns0:cNvSpPr>
          <ns0:nvPr/>
        </ns0:nvSpPr>
        <ns0:spPr>
          <a:xfrm>
            <a:off x="3467100" y="41052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5E7184"/>
                </a:solidFill>
              </a:defRPr>
            </a:pPr>
            <a:r>
              <a:rPr sz="1350" b="0">
                <a:solidFill>
                  <a:srgbClr val="5E7184"/>
                </a:solidFill>
              </a:rPr>
              <a:t>Organiser routes, fichiers et configuration</a:t>
            </a:r>
          </a:p>
        </ns0:txBody>
      </ns0:sp>
      <ns0:sp>
        <ns0:nvSpPr>
          <ns0:cNvPr id="22" name="Rectangle : coins arrondis 21">
            <a:extLst>
              <a:ext uri="{FF2B5EF4-FFF2-40B4-BE49-F238E27FC236}">
                <ns2:creationId id="{06107A87-E00E-4A3A-8F4D-B07D51E91270}"/>
              </a:ext>
            </a:extLst>
          </ns0:cNvPr>
          <ns0:cNvSpPr>
            <a:spLocks noGrp="1"/>
          </ns0:cNvSpPr>
          <ns0:nvPr/>
        </ns0:nvSpPr>
        <ns0:spPr>
          <a:xfrm>
            <a:off x="685800" y="461010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23" name="Rectangle 22">
            <a:extLst>
              <a:ext uri="{FF2B5EF4-FFF2-40B4-BE49-F238E27FC236}">
                <ns2:creationId id="{B6E175D4-C647-4992-ADD9-4B64E9A0237C}"/>
              </a:ext>
            </a:extLst>
          </ns0:cNvPr>
          <ns0:cNvSpPr>
            <a:spLocks noGrp="1"/>
          </ns0:cNvSpPr>
          <ns0:nvPr/>
        </ns0:nvSpPr>
        <ns0:spPr>
          <a:xfrm>
            <a:off x="857250" y="473392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D85A5A"/>
                </a:solidFill>
              </a:defRPr>
            </a:pPr>
            <a:r>
              <a:rPr sz="1200" b="1">
                <a:solidFill>
                  <a:srgbClr val="D85A5A"/>
                </a:solidFill>
              </a:rPr>
              <a:t>05</a:t>
            </a:r>
          </a:p>
        </ns0:txBody>
      </ns0:sp>
      <ns0:sp>
        <ns0:nvSpPr>
          <ns0:cNvPr id="24" name="Rectangle 23">
            <a:extLst>
              <a:ext uri="{FF2B5EF4-FFF2-40B4-BE49-F238E27FC236}">
                <ns2:creationId id="{0DDC766C-7ACC-49E0-B53C-BF2705E6809E}"/>
              </a:ext>
            </a:extLst>
          </ns0:cNvPr>
          <ns0:cNvSpPr>
            <a:spLocks noGrp="1"/>
          </ns0:cNvSpPr>
          <ns0:nvPr/>
        </ns0:nvSpPr>
        <ns0:spPr>
          <a:xfrm>
            <a:off x="1485900" y="4724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Intégration</a:t>
            </a:r>
          </a:p>
        </ns0:txBody>
      </ns0:sp>
      <ns0:sp>
        <ns0:nvSpPr>
          <ns0:cNvPr id="25" name="Rectangle 24">
            <a:extLst>
              <a:ext uri="{FF2B5EF4-FFF2-40B4-BE49-F238E27FC236}">
                <ns2:creationId id="{78AFA8B2-5657-45E0-8938-F2A6A7B5F82F}"/>
              </a:ext>
            </a:extLst>
          </ns0:cNvPr>
          <ns0:cNvSpPr>
            <a:spLocks noGrp="1"/>
          </ns0:cNvSpPr>
          <ns0:nvPr/>
        </ns0:nvSpPr>
        <ns0:spPr>
          <a:xfrm>
            <a:off x="3467100" y="47244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5E7184"/>
                </a:solidFill>
              </a:defRPr>
            </a:pPr>
            <a:r>
              <a:rPr sz="1350" b="0">
                <a:solidFill>
                  <a:srgbClr val="5E7184"/>
                </a:solidFill>
              </a:rPr>
              <a:t>Coordonner les modifications de l'équipe</a:t>
            </a:r>
          </a:p>
        </ns0:txBody>
      </ns0:sp>
      <ns0:sp>
        <ns0:nvSpPr>
          <ns0:cNvPr id="26" name="Rectangle 25">
            <a:extLst>
              <a:ext uri="{FF2B5EF4-FFF2-40B4-BE49-F238E27FC236}">
                <ns2:creationId id="{6FFEEFB0-9093-4DDA-8B6F-7C82CE32FD0E}"/>
              </a:ext>
            </a:extLst>
          </ns0:cNvPr>
          <ns0:cNvSpPr>
            <a:spLocks noGrp="1"/>
          </ns0:cNvSpPr>
          <ns0:nvPr/>
        </ns0:nvSpPr>
        <ns0:spPr>
          <a:xfrm>
            <a:off x="685800" y="5381625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Réponse commune : tester régulièrement, documenter et communiquer dans l’équipe.</a:t>
            </a:r>
          </a:p>
        </ns0:txBody>
      </ns0:sp>
      <ns0:sp>
        <ns0:nvSpPr>
          <ns0:cNvPr id="28" name="Rectangle 27"/>
          <ns0:cNvSpPr/>
          <ns0:nvPr/>
        </ns0:nvSpPr>
        <ns0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</ns0:spTree>
    <ns0:extLst>
      <ns0:ext uri="{BB962C8B-B14F-4D97-AF65-F5344CB8AC3E}">
        <ns3:creationId val="598851290"/>
      </ns0:ext>
    </ns0:extLst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7FAFC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3" name="Rectangle 22">
            <a:extLst>
              <a:ext uri="{FF2B5EF4-FFF2-40B4-BE49-F238E27FC236}">
                <ns2:creationId id="{3A01EA77-2EB0-4E6A-8F02-D81E16418F93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ns0:txBody>
      </ns0:sp>
      <ns0:sp>
        <ns0:nvSpPr>
          <ns0:cNvPr id="2" name="Rectangle 1">
            <a:extLst>
              <a:ext uri="{FF2B5EF4-FFF2-40B4-BE49-F238E27FC236}">
                <ns2:creationId id="{F69FC2F7-2EEB-4355-8533-4E80B1589C21}"/>
              </a:ext>
            </a:extLst>
          </ns0:cNvPr>
          <ns0:cNvSpPr>
            <a:spLocks noGrp="1"/>
          </ns0:cNvSpPr>
          <ns0:nvPr/>
        </ns0:nvSpPr>
        <ns0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11</a:t>
            </a:r>
          </a:p>
        </ns0:txBody>
      </ns0:sp>
      <ns0:sp>
        <ns0:nvSpPr>
          <ns0:cNvPr id="3" name="Rectangle 2">
            <a:extLst>
              <a:ext uri="{FF2B5EF4-FFF2-40B4-BE49-F238E27FC236}">
                <ns2:creationId id="{C93512E0-F4E7-48E6-B4EB-910DC64C9E0A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4" name="Rectangle 3">
            <a:extLst>
              <a:ext uri="{FF2B5EF4-FFF2-40B4-BE49-F238E27FC236}">
                <ns2:creationId id="{90BAE44D-B725-452D-A78C-1D7ACB681E57}"/>
              </a:ext>
            </a:extLst>
          </ns0:cNvPr>
          <ns0:cNvSpPr>
            <a:spLocks noGrp="1"/>
          </ns0:cNvSpPr>
          <ns0:nvPr/>
        </ns0:nvSpPr>
        <ns0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ORGANISATION DU PROJET</a:t>
            </a:r>
          </a:p>
        </ns0:txBody>
      </ns0:sp>
      <ns0:sp>
        <ns0:nvSpPr>
          <ns0:cNvPr id="5" name="Rectangle 4">
            <a:extLst>
              <a:ext uri="{FF2B5EF4-FFF2-40B4-BE49-F238E27FC236}">
                <ns2:creationId id="{5265DF3A-E1D4-414D-8A47-7F053AFFE0B4}"/>
              </a:ext>
            </a:extLst>
          </ns0:cNvPr>
          <ns0:cNvSpPr>
            <a:spLocks noGrp="1"/>
          </ns0:cNvSpPr>
          <ns0:nvPr/>
        </ns0:nvSpPr>
        <ns0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Construire en équipe, intégrer progressivement</a:t>
            </a:r>
          </a:p>
        </ns0:txBody>
      </ns0:sp>
      <ns0:sp>
        <ns0:nvSpPr>
          <ns0:cNvPr id="6" name="Rectangle : coins arrondis 5">
            <a:extLst>
              <a:ext uri="{FF2B5EF4-FFF2-40B4-BE49-F238E27FC236}">
                <ns2:creationId id="{9D9D2A29-1021-4609-9CE7-CF8A31265213}"/>
              </a:ext>
            </a:extLst>
          </ns0:cNvPr>
          <ns0:cNvSpPr>
            <a:spLocks noGrp="1"/>
          </ns0:cNvSpPr>
          <ns0:nvPr/>
        </ns0:nvSpPr>
        <ns0:spPr>
          <a:xfrm>
            <a:off x="685800" y="2609850"/>
            <a:ext cx="23431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7" name="Rectangle 6">
            <a:extLst>
              <a:ext uri="{FF2B5EF4-FFF2-40B4-BE49-F238E27FC236}">
                <ns2:creationId id="{22B87385-6FC9-4DED-91A2-CE75D66A17B2}"/>
              </a:ext>
            </a:extLst>
          </ns0:cNvPr>
          <ns0:cNvSpPr>
            <a:spLocks noGrp="1"/>
          </ns0:cNvSpPr>
          <ns0:nvPr/>
        </ns0:nvSpPr>
        <ns0:spPr>
          <a:xfrm>
            <a:off x="895350" y="28194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28B6B0"/>
                </a:solidFill>
              </a:defRPr>
            </a:pPr>
            <a:r>
              <a:rPr sz="1800" b="1">
                <a:solidFill>
                  <a:srgbClr val="28B6B0"/>
                </a:solidFill>
              </a:rPr>
              <a:t>01</a:t>
            </a:r>
          </a:p>
        </ns0:txBody>
      </ns0:sp>
      <ns0:sp>
        <ns0:nvSpPr>
          <ns0:cNvPr id="8" name="Rectangle 7">
            <a:extLst>
              <a:ext uri="{FF2B5EF4-FFF2-40B4-BE49-F238E27FC236}">
                <ns2:creationId id="{2AB393E1-D562-4B71-AD04-7188AD72DD29}"/>
              </a:ext>
            </a:extLst>
          </ns0:cNvPr>
          <ns0:cNvSpPr>
            <a:spLocks noGrp="1"/>
          </ns0:cNvSpPr>
          <ns0:nvPr/>
        </ns0:nvSpPr>
        <ns0:spPr>
          <a:xfrm>
            <a:off x="895350" y="328612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Répartir</a:t>
            </a:r>
          </a:p>
        </ns0:txBody>
      </ns0:sp>
      <ns0:sp>
        <ns0:nvSpPr>
          <ns0:cNvPr id="9" name="Rectangle 8">
            <a:extLst>
              <a:ext uri="{FF2B5EF4-FFF2-40B4-BE49-F238E27FC236}">
                <ns2:creationId id="{E9E8BFB1-C09E-4656-8732-25037169E5BD}"/>
              </a:ext>
            </a:extLst>
          </ns0:cNvPr>
          <ns0:cNvSpPr>
            <a:spLocks noGrp="1"/>
          </ns0:cNvSpPr>
          <ns0:nvPr/>
        </ns0:nvSpPr>
        <ns0:spPr>
          <a:xfrm>
            <a:off x="895350" y="37147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Base, routes, interface, API, tests</a:t>
            </a:r>
          </a:p>
        </ns0:txBody>
      </ns0:sp>
      <ns0:sp>
        <ns0:nvSpPr>
          <ns0:cNvPr id="10" name="Rectangle : coins arrondis 9">
            <a:extLst>
              <a:ext uri="{FF2B5EF4-FFF2-40B4-BE49-F238E27FC236}">
                <ns2:creationId id="{3BF57955-2BB3-4087-ACC5-6730B40579B7}"/>
              </a:ext>
            </a:extLst>
          </ns0:cNvPr>
          <ns0:cNvSpPr>
            <a:spLocks noGrp="1"/>
          </ns0:cNvSpPr>
          <ns0:nvPr/>
        </ns0:nvSpPr>
        <ns0:spPr>
          <a:xfrm>
            <a:off x="3371850" y="2609850"/>
            <a:ext cx="23431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1" name="Rectangle 10">
            <a:extLst>
              <a:ext uri="{FF2B5EF4-FFF2-40B4-BE49-F238E27FC236}">
                <ns2:creationId id="{6F457441-0897-41F7-A299-646DC754CACC}"/>
              </a:ext>
            </a:extLst>
          </ns0:cNvPr>
          <ns0:cNvSpPr>
            <a:spLocks noGrp="1"/>
          </ns0:cNvSpPr>
          <ns0:nvPr/>
        </ns0:nvSpPr>
        <ns0:spPr>
          <a:xfrm>
            <a:off x="3581400" y="28194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28B6B0"/>
                </a:solidFill>
              </a:defRPr>
            </a:pPr>
            <a:r>
              <a:rPr sz="1800" b="1">
                <a:solidFill>
                  <a:srgbClr val="28B6B0"/>
                </a:solidFill>
              </a:rPr>
              <a:t>02</a:t>
            </a:r>
          </a:p>
        </ns0:txBody>
      </ns0:sp>
      <ns0:sp>
        <ns0:nvSpPr>
          <ns0:cNvPr id="12" name="Rectangle 11">
            <a:extLst>
              <a:ext uri="{FF2B5EF4-FFF2-40B4-BE49-F238E27FC236}">
                <ns2:creationId id="{99917805-04FE-4597-87A9-390BE2DA3728}"/>
              </a:ext>
            </a:extLst>
          </ns0:cNvPr>
          <ns0:cNvSpPr>
            <a:spLocks noGrp="1"/>
          </ns0:cNvSpPr>
          <ns0:nvPr/>
        </ns0:nvSpPr>
        <ns0:spPr>
          <a:xfrm>
            <a:off x="3581400" y="328612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Coordonner</a:t>
            </a:r>
          </a:p>
        </ns0:txBody>
      </ns0:sp>
      <ns0:sp>
        <ns0:nvSpPr>
          <ns0:cNvPr id="13" name="Rectangle 12">
            <a:extLst>
              <a:ext uri="{FF2B5EF4-FFF2-40B4-BE49-F238E27FC236}">
                <ns2:creationId id="{7FB30955-0709-411F-A648-261BC513B1CA}"/>
              </a:ext>
            </a:extLst>
          </ns0:cNvPr>
          <ns0:cNvSpPr>
            <a:spLocks noGrp="1"/>
          </ns0:cNvSpPr>
          <ns0:nvPr/>
        </ns0:nvSpPr>
        <ns0:spPr>
          <a:xfrm>
            <a:off x="3581400" y="37147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E7184"/>
                </a:solidFill>
              </a:defRPr>
            </a:pPr>
            <a:r>
              <a:rPr sz="1050" b="0">
                <a:solidFill>
                  <a:srgbClr val="5E7184"/>
                </a:solidFill>
              </a:rPr>
              <a:t>Partage et suivi des modifications</a:t>
            </a:r>
          </a:p>
        </ns0:txBody>
      </ns0:sp>
      <ns0:sp>
        <ns0:nvSpPr>
          <ns0:cNvPr id="14" name="Rectangle : coins arrondis 13">
            <a:extLst>
              <a:ext uri="{FF2B5EF4-FFF2-40B4-BE49-F238E27FC236}">
                <ns2:creationId id="{B1962873-7161-4672-B910-6EA545B69BF1}"/>
              </a:ext>
            </a:extLst>
          </ns0:cNvPr>
          <ns0:cNvSpPr>
            <a:spLocks noGrp="1"/>
          </ns0:cNvSpPr>
          <ns0:nvPr/>
        </ns0:nvSpPr>
        <ns0:spPr>
          <a:xfrm>
            <a:off x="6057900" y="2609850"/>
            <a:ext cx="23431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5" name="Rectangle 14">
            <a:extLst>
              <a:ext uri="{FF2B5EF4-FFF2-40B4-BE49-F238E27FC236}">
                <ns2:creationId id="{1003CEF6-ED97-4D5D-981F-A54F2DB19D60}"/>
              </a:ext>
            </a:extLst>
          </ns0:cNvPr>
          <ns0:cNvSpPr>
            <a:spLocks noGrp="1"/>
          </ns0:cNvSpPr>
          <ns0:nvPr/>
        </ns0:nvSpPr>
        <ns0:spPr>
          <a:xfrm>
            <a:off x="6267450" y="28194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28B6B0"/>
                </a:solidFill>
              </a:defRPr>
            </a:pPr>
            <a:r>
              <a:rPr sz="1800" b="1">
                <a:solidFill>
                  <a:srgbClr val="28B6B0"/>
                </a:solidFill>
              </a:rPr>
              <a:t>03</a:t>
            </a:r>
          </a:p>
        </ns0:txBody>
      </ns0:sp>
      <ns0:sp>
        <ns0:nvSpPr>
          <ns0:cNvPr id="16" name="Rectangle 15">
            <a:extLst>
              <a:ext uri="{FF2B5EF4-FFF2-40B4-BE49-F238E27FC236}">
                <ns2:creationId id="{14425337-6DC9-4071-AADD-37F55ED8F9CF}"/>
              </a:ext>
            </a:extLst>
          </ns0:cNvPr>
          <ns0:cNvSpPr>
            <a:spLocks noGrp="1"/>
          </ns0:cNvSpPr>
          <ns0:nvPr/>
        </ns0:nvSpPr>
        <ns0:spPr>
          <a:xfrm>
            <a:off x="6267450" y="328612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Suivre</a:t>
            </a:r>
          </a:p>
        </ns0:txBody>
      </ns0:sp>
      <ns0:sp>
        <ns0:nvSpPr>
          <ns0:cNvPr id="17" name="Rectangle 16">
            <a:extLst>
              <a:ext uri="{FF2B5EF4-FFF2-40B4-BE49-F238E27FC236}">
                <ns2:creationId id="{0C838589-9C93-431C-837C-BB04ADBB83E3}"/>
              </a:ext>
            </a:extLst>
          </ns0:cNvPr>
          <ns0:cNvSpPr>
            <a:spLocks noGrp="1"/>
          </ns0:cNvSpPr>
          <ns0:nvPr/>
        </ns0:nvSpPr>
        <ns0:spPr>
          <a:xfrm>
            <a:off x="6267450" y="37147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Réunions, points d’avancement, priorités</a:t>
            </a:r>
          </a:p>
        </ns0:txBody>
      </ns0:sp>
      <ns0:sp>
        <ns0:nvSpPr>
          <ns0:cNvPr id="18" name="Rectangle : coins arrondis 17">
            <a:extLst>
              <a:ext uri="{FF2B5EF4-FFF2-40B4-BE49-F238E27FC236}">
                <ns2:creationId id="{AED230A2-97F5-443F-95C2-FB5F91BBA238}"/>
              </a:ext>
            </a:extLst>
          </ns0:cNvPr>
          <ns0:cNvSpPr>
            <a:spLocks noGrp="1"/>
          </ns0:cNvSpPr>
          <ns0:nvPr/>
        </ns0:nvSpPr>
        <ns0:spPr>
          <a:xfrm>
            <a:off x="8743950" y="2609850"/>
            <a:ext cx="23431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ns0:spPr>
        <ns0:txBody>
          <a:bodyPr/>
          <a:lstStyle/>
          <a:p>
            <a:endParaRPr lang="fr-FR"/>
          </a:p>
        </ns0:txBody>
      </ns0:sp>
      <ns0:sp>
        <ns0:nvSpPr>
          <ns0:cNvPr id="19" name="Rectangle 18">
            <a:extLst>
              <a:ext uri="{FF2B5EF4-FFF2-40B4-BE49-F238E27FC236}">
                <ns2:creationId id="{A3A527A5-4F61-4338-9C16-B90579BED722}"/>
              </a:ext>
            </a:extLst>
          </ns0:cNvPr>
          <ns0:cNvSpPr>
            <a:spLocks noGrp="1"/>
          </ns0:cNvSpPr>
          <ns0:nvPr/>
        </ns0:nvSpPr>
        <ns0:spPr>
          <a:xfrm>
            <a:off x="8953500" y="28194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28B6B0"/>
                </a:solidFill>
              </a:defRPr>
            </a:pPr>
            <a:r>
              <a:rPr sz="1800" b="1">
                <a:solidFill>
                  <a:srgbClr val="28B6B0"/>
                </a:solidFill>
              </a:rPr>
              <a:t>04</a:t>
            </a:r>
          </a:p>
        </ns0:txBody>
      </ns0:sp>
      <ns0:sp>
        <ns0:nvSpPr>
          <ns0:cNvPr id="20" name="Rectangle 19">
            <a:extLst>
              <a:ext uri="{FF2B5EF4-FFF2-40B4-BE49-F238E27FC236}">
                <ns2:creationId id="{CCAFE322-D42E-434C-891F-E782709802C3}"/>
              </a:ext>
            </a:extLst>
          </ns0:cNvPr>
          <ns0:cNvSpPr>
            <a:spLocks noGrp="1"/>
          </ns0:cNvSpPr>
          <ns0:nvPr/>
        </ns0:nvSpPr>
        <ns0:spPr>
          <a:xfrm>
            <a:off x="8953500" y="328612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Vérifier</a:t>
            </a:r>
          </a:p>
        </ns0:txBody>
      </ns0:sp>
      <ns0:sp>
        <ns0:nvSpPr>
          <ns0:cNvPr id="21" name="Rectangle 20">
            <a:extLst>
              <a:ext uri="{FF2B5EF4-FFF2-40B4-BE49-F238E27FC236}">
                <ns2:creationId id="{00F1631F-9B5D-4283-AFA1-90B3F22E5165}"/>
              </a:ext>
            </a:extLst>
          </ns0:cNvPr>
          <ns0:cNvSpPr>
            <a:spLocks noGrp="1"/>
          </ns0:cNvSpPr>
          <ns0:nvPr/>
        </ns0:nvSpPr>
        <ns0:spPr>
          <a:xfrm>
            <a:off x="8953500" y="37147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Vérification des parcours et appels API</a:t>
            </a:r>
          </a:p>
        </ns0:txBody>
      </ns0:sp>
      <ns0:sp>
        <ns0:nvSpPr>
          <ns0:cNvPr id="22" name="Rectangle 21">
            <a:extLst>
              <a:ext uri="{FF2B5EF4-FFF2-40B4-BE49-F238E27FC236}">
                <ns2:creationId id="{BFB156A6-8023-47EF-BA88-544C47520391}"/>
              </a:ext>
            </a:extLst>
          </ns0:cNvPr>
          <ns0:cNvSpPr>
            <a:spLocks noGrp="1"/>
          </ns0:cNvSpPr>
          <ns0:nvPr/>
        </ns0:nvSpPr>
        <ns0:spPr>
          <a:xfrm>
            <a:off x="685800" y="52959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Une organisation régulière limite les blocages et garde toutes les parties de l’application cohérentes.</a:t>
            </a:r>
          </a:p>
        </ns0:txBody>
      </ns0:sp>
      <ns0:sp>
        <ns0:nvSpPr>
          <ns0:cNvPr id="24" name="Rectangle 23"/>
          <ns0:cNvSpPr/>
          <ns0:nvPr/>
        </ns0:nvSpPr>
        <ns0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</ns0:spTree>
    <ns0:extLst>
      <ns0:ext uri="{BB962C8B-B14F-4D97-AF65-F5344CB8AC3E}">
        <ns3:creationId val="1229748643"/>
      </ns0:ext>
    </ns0:extLst>
  </ns0:cSld>
  <ns0:clrMapOvr>
    <a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FC95AF-A9B0-436C-B7E0-79DC23C8F3A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SAE 2.01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815B0-90AE-4D0A-940E-237B44B2CCF6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E7184"/>
                </a:solidFill>
              </a:defRPr>
            </a:pPr>
            <a:r>
              <a:rPr sz="975" b="1">
                <a:solidFill>
                  <a:srgbClr val="5E7184"/>
                </a:solidFill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CB85F3-F2F3-4B27-8792-A026625B5585}"/>
              </a:ext>
            </a:extLst>
          </p:cNvPr>
          <p:cNvSpPr>
            <a:spLocks noGrp="1"/>
          </p:cNvSpPr>
          <p:nvPr/>
        </p:nvSpPr>
        <p:spPr>
          <a:xfrm>
            <a:off x="685800" y="561975"/>
            <a:ext cx="10820400" cy="47625"/>
          </a:xfrm>
          <a:prstGeom prst="rect">
            <a:avLst/>
          </a:prstGeom>
          <a:solidFill>
            <a:srgbClr val="C9DEE9"/>
          </a:solidFill>
          <a:ln w="0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F93A9-2CDD-46E9-9154-9E3D6583E09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9B8"/>
                </a:solidFill>
              </a:defRPr>
            </a:pPr>
            <a:r>
              <a:rPr sz="1050" b="1">
                <a:solidFill>
                  <a:srgbClr val="1479B8"/>
                </a:solidFill>
              </a:rPr>
              <a:t>BILAN &amp; 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1E8BD-BF04-442A-8BA1-09D32591738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Ce que cette SAE nous a permis d'acquérir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12DF723-4619-454B-9CED-61D7C81607AE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0863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35036-1854-4C07-9788-BD3A51281036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79B8"/>
                </a:solidFill>
              </a:defRPr>
            </a:pPr>
            <a:r>
              <a:rPr sz="1425" b="1">
                <a:solidFill>
                  <a:srgbClr val="1479B8"/>
                </a:solidFill>
              </a:rPr>
              <a:t>Architecture MVC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7D157-074D-459A-BE86-448734AA87B0}"/>
              </a:ext>
            </a:extLst>
          </p:cNvPr>
          <p:cNvSpPr>
            <a:spLocks noGrp="1"/>
          </p:cNvSpPr>
          <p:nvPr/>
        </p:nvSpPr>
        <p:spPr>
          <a:xfrm>
            <a:off x="2933700" y="2362200"/>
            <a:ext cx="260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Séparer données, logique et interface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37765FF-37FF-47CF-B64C-AFF8B61AB837}"/>
              </a:ext>
            </a:extLst>
          </p:cNvPr>
          <p:cNvSpPr>
            <a:spLocks noGrp="1"/>
          </p:cNvSpPr>
          <p:nvPr/>
        </p:nvSpPr>
        <p:spPr>
          <a:xfrm>
            <a:off x="6115050" y="2209800"/>
            <a:ext cx="50863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4BCE2D-B543-45B2-9F2F-C55A5B6F0D95}"/>
              </a:ext>
            </a:extLst>
          </p:cNvPr>
          <p:cNvSpPr>
            <a:spLocks noGrp="1"/>
          </p:cNvSpPr>
          <p:nvPr/>
        </p:nvSpPr>
        <p:spPr>
          <a:xfrm>
            <a:off x="6305550" y="23622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79B8"/>
                </a:solidFill>
              </a:defRPr>
            </a:pPr>
            <a:r>
              <a:rPr sz="1425" b="1">
                <a:solidFill>
                  <a:srgbClr val="1479B8"/>
                </a:solidFill>
              </a:rPr>
              <a:t>Développement Flask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575F2-4E71-45B6-9753-16E77ABBBE4E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60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Créer des routes et des pages dynamiques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3D90297-5B66-48A9-BB6D-AE5A24CB1CA0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50863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94C0D0-1FBC-4182-8194-540DD8610111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79B8"/>
                </a:solidFill>
              </a:defRPr>
            </a:pPr>
            <a:r>
              <a:rPr sz="1425" b="1">
                <a:solidFill>
                  <a:srgbClr val="1479B8"/>
                </a:solidFill>
              </a:rPr>
              <a:t>Consommation d'API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A6F16C-EE57-4651-8033-B4368C8C20A1}"/>
              </a:ext>
            </a:extLst>
          </p:cNvPr>
          <p:cNvSpPr>
            <a:spLocks noGrp="1"/>
          </p:cNvSpPr>
          <p:nvPr/>
        </p:nvSpPr>
        <p:spPr>
          <a:xfrm>
            <a:off x="2933700" y="3352800"/>
            <a:ext cx="260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Récupérer et traiter des données JSON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E7A257C-1EE2-4081-999F-D4D54A4500E9}"/>
              </a:ext>
            </a:extLst>
          </p:cNvPr>
          <p:cNvSpPr>
            <a:spLocks noGrp="1"/>
          </p:cNvSpPr>
          <p:nvPr/>
        </p:nvSpPr>
        <p:spPr>
          <a:xfrm>
            <a:off x="6115050" y="3200400"/>
            <a:ext cx="50863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87290D-F2AF-4932-8FCC-2C70D02802B2}"/>
              </a:ext>
            </a:extLst>
          </p:cNvPr>
          <p:cNvSpPr>
            <a:spLocks noGrp="1"/>
          </p:cNvSpPr>
          <p:nvPr/>
        </p:nvSpPr>
        <p:spPr>
          <a:xfrm>
            <a:off x="6305550" y="33528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79B8"/>
                </a:solidFill>
              </a:defRPr>
            </a:pPr>
            <a:r>
              <a:rPr sz="1425" b="1">
                <a:solidFill>
                  <a:srgbClr val="1479B8"/>
                </a:solidFill>
              </a:rPr>
              <a:t>Base de données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A9F844-71CE-4165-803E-2849BC6BA94A}"/>
              </a:ext>
            </a:extLst>
          </p:cNvPr>
          <p:cNvSpPr>
            <a:spLocks noGrp="1"/>
          </p:cNvSpPr>
          <p:nvPr/>
        </p:nvSpPr>
        <p:spPr>
          <a:xfrm>
            <a:off x="8362950" y="3352800"/>
            <a:ext cx="260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Exploiter MySQL avec SQLAlchemy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AE75F59-D8D9-4722-836F-9450C62CF68D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50863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C17401-A7E9-4FBB-9C0E-F9FD03D157E0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79B8"/>
                </a:solidFill>
              </a:defRPr>
            </a:pPr>
            <a:r>
              <a:rPr sz="1425" b="1">
                <a:solidFill>
                  <a:srgbClr val="1479B8"/>
                </a:solidFill>
              </a:rPr>
              <a:t>Travail collaboratif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D87DFF-E54B-4EB4-A430-ACB6C1821A4A}"/>
              </a:ext>
            </a:extLst>
          </p:cNvPr>
          <p:cNvSpPr>
            <a:spLocks noGrp="1"/>
          </p:cNvSpPr>
          <p:nvPr/>
        </p:nvSpPr>
        <p:spPr>
          <a:xfrm>
            <a:off x="2933700" y="4343400"/>
            <a:ext cx="260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Versionner, intégrer et communiquer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1C1F65C-0C68-40B6-85E3-4D2E0A73F5EF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E55C59-06B1-4C44-9FD5-75D14AE7A596}"/>
              </a:ext>
            </a:extLst>
          </p:cNvPr>
          <p:cNvSpPr>
            <a:spLocks noGrp="1"/>
          </p:cNvSpPr>
          <p:nvPr/>
        </p:nvSpPr>
        <p:spPr>
          <a:xfrm>
            <a:off x="914400" y="5543550"/>
            <a:ext cx="1028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Conclusion : une application complète qui rend les données de santé plus accessibles et comparables.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1719072"/>
            <a:ext cx="685800" cy="41148"/>
          </a:xfrm>
          <a:prstGeom prst="rect">
            <a:avLst/>
          </a:prstGeom>
          <a:solidFill>
            <a:srgbClr val="28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9699809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DocSecurity>0</DocSecurity>
  <PresentationFormat>Grand écran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Wasel Yassine</cp:lastModifiedBy>
  <cp:revision>1</cp:revision>
  <dcterms:created xsi:type="dcterms:W3CDTF">2026-06-24T22:54:08Z</dcterms:created>
  <dcterms:modified xsi:type="dcterms:W3CDTF">2026-06-24T23:25:13Z</dcterms:modified>
</cp:coreProperties>
</file>